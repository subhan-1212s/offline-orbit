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Judges, we are Team Offline Orbit from FX Engineering College. In rural communities, over 65% of students suffer from intermittent connectivity and shared mobile hardware. Offline Orbit is an AI-powered personalized learning recovery system engineered for zero data dependency. It pinpoints a student's misconception, explains the recommendation, allows full video and gamified learning offline, and syncs progress seamlessly when connectivity returns.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Aarav, a 7th-grade student in a rural village near Tirunelveli. He shares a single low-cost smartphone with his family. When he encounters a misconception in linear equations, generic cloud AI apps freeze due to 2G drops. Offline Orbit addresses both network barriers and concept gaps.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Orbit operates on a 4-pillar value proposition. First, we diagnose concept gaps with 10-question adaptive quizzes. Second, we provide transparent explanations for recommendations. Third, we enable 100% offline practice using lightweight video blobs and Web Audio. Fourth, we sync evidence safely to MongoDB Atlas.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Personalization in Offline Orbit is fully transparent. When Aarav takes an assessment, our system evaluates his score trajectory, tier, and interest domain. If he misses a question, it provides explicit rationale for why a specific video or matching game was recommended.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technical architecture combines React 18 and Tailwind CSS on the frontend with Node.js and MongoDB Atlas on the backend. For offline resiliency, we utilize browser IndexedDB and Service Workers. Attempt evidence is queued locally and synced when connection returns.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biggest innovation is low-bandwidth multilingual learning. Instead of streaming heavy 50MB MP4 files, we bundle 400KB WebM video blobs with native Web Speech synthesis in Tamil, Hindi, and English. Our 150-question STEM bank guarantees fresh retakes.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teachers, Offline Orbit provides classroom rooms with 6-digit join codes like 794201. Teachers don't just see grades; they receive automated concept gap alerts showing exactly which sub-topics the class struggles with.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prototype is 100% functional today. We verified the zero-error production build. We ask the judges for the opportunity to pilot Offline Orbit in rural village schools in Tirunelveli district.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548640"/>
            <a:ext cx="10728655" cy="5760720"/>
          </a:xfrm>
          <a:prstGeom prst="roundRect">
            <a:avLst/>
          </a:prstGeom>
          <a:solidFill>
            <a:srgbClr val="FFFFFF"/>
          </a:solidFill>
          <a:ln w="12700">
            <a:solidFill>
              <a:srgbClr val="E5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822960"/>
            <a:ext cx="6217920" cy="5120640"/>
          </a:xfrm>
          <a:prstGeom prst="rect">
            <a:avLst/>
          </a:prstGeom>
          <a:noFill/>
        </p:spPr>
        <p:txBody>
          <a:bodyPr wrap="square">
            <a:spAutoFit/>
          </a:bodyPr>
          <a:lstStyle/>
          <a:p>
            <a:pPr>
              <a:defRPr sz="1050" b="1">
                <a:solidFill>
                  <a:srgbClr val="F95738"/>
                </a:solidFill>
                <a:latin typeface="Segoe UI"/>
              </a:defRPr>
            </a:pPr>
            <a:r>
              <a:t>AI ODYSSEY HACKATHON 2026 • OFFICIAL SUBMISSION</a:t>
            </a:r>
          </a:p>
          <a:p>
            <a:pPr>
              <a:spcBef>
                <a:spcPts val="600"/>
              </a:spcBef>
              <a:defRPr sz="3600" b="1">
                <a:solidFill>
                  <a:srgbClr val="1E2229"/>
                </a:solidFill>
                <a:latin typeface="Segoe UI"/>
              </a:defRPr>
            </a:pPr>
            <a:r>
              <a:t>Offline Orbit</a:t>
            </a:r>
          </a:p>
          <a:p>
            <a:pPr>
              <a:spcBef>
                <a:spcPts val="400"/>
              </a:spcBef>
              <a:defRPr sz="1400" b="1">
                <a:solidFill>
                  <a:srgbClr val="4F46E5"/>
                </a:solidFill>
                <a:latin typeface="Segoe UI"/>
              </a:defRPr>
            </a:pPr>
            <a:r>
              <a:t>AI Personalized Learning Recovery System for Rural Communities</a:t>
            </a:r>
          </a:p>
          <a:p>
            <a:pPr>
              <a:spcBef>
                <a:spcPts val="1200"/>
              </a:spcBef>
              <a:defRPr sz="1100">
                <a:solidFill>
                  <a:srgbClr val="5A606C"/>
                </a:solidFill>
                <a:latin typeface="Segoe UI"/>
              </a:defRPr>
            </a:pPr>
            <a:r>
              <a:t>Problem Statement: AI Personalized Learning Platform for Rural Communities</a:t>
            </a:r>
            <a:br/>
            <a:r>
              <a:t>Core Paradigm: Assess ➔ Gap ➔ Explain ➔ Practise ➔ Save Offline ➔ Sync ➔ Progress</a:t>
            </a:r>
          </a:p>
        </p:txBody>
      </p:sp>
      <p:sp>
        <p:nvSpPr>
          <p:cNvPr id="5" name="Rounded Rectangle 4"/>
          <p:cNvSpPr/>
          <p:nvPr/>
        </p:nvSpPr>
        <p:spPr>
          <a:xfrm>
            <a:off x="1097280" y="4114800"/>
            <a:ext cx="5943600" cy="1645920"/>
          </a:xfrm>
          <a:prstGeom prst="roundRect">
            <a:avLst/>
          </a:prstGeom>
          <a:solidFill>
            <a:srgbClr val="EEFDF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4251960"/>
            <a:ext cx="5577840" cy="1371600"/>
          </a:xfrm>
          <a:prstGeom prst="rect">
            <a:avLst/>
          </a:prstGeom>
          <a:noFill/>
        </p:spPr>
        <p:txBody>
          <a:bodyPr wrap="square">
            <a:spAutoFit/>
          </a:bodyPr>
          <a:lstStyle/>
          <a:p>
            <a:pPr>
              <a:defRPr sz="1000" b="1">
                <a:solidFill>
                  <a:srgbClr val="0D9488"/>
                </a:solidFill>
                <a:latin typeface="Segoe UI"/>
              </a:defRPr>
            </a:pPr>
            <a:r>
              <a:t>KEY DIFFERENTIATOR: CONNECTED OFFLINE RECOVERY LOOP</a:t>
            </a:r>
          </a:p>
          <a:p>
            <a:pPr>
              <a:spcBef>
                <a:spcPts val="400"/>
              </a:spcBef>
              <a:defRPr sz="1050">
                <a:solidFill>
                  <a:srgbClr val="1E2229"/>
                </a:solidFill>
                <a:latin typeface="Segoe UI"/>
              </a:defRPr>
            </a:pPr>
            <a:r>
              <a:t>• Works 100% offline with ~400KB WebM video blobs + native Web Audio speech in Tamil, Hindi &amp; English.</a:t>
            </a:r>
            <a:br/>
            <a:r>
              <a:t>• Automatic non-duplicating sync to MongoDB Atlas &amp; Educator Dashboard.</a:t>
            </a:r>
          </a:p>
        </p:txBody>
      </p:sp>
      <p:sp>
        <p:nvSpPr>
          <p:cNvPr id="7" name="Rounded Rectangle 6"/>
          <p:cNvSpPr/>
          <p:nvPr/>
        </p:nvSpPr>
        <p:spPr>
          <a:xfrm>
            <a:off x="7589520" y="822960"/>
            <a:ext cx="3566160" cy="51206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005840"/>
            <a:ext cx="3200400" cy="4754880"/>
          </a:xfrm>
          <a:prstGeom prst="rect">
            <a:avLst/>
          </a:prstGeom>
          <a:noFill/>
        </p:spPr>
        <p:txBody>
          <a:bodyPr wrap="square">
            <a:spAutoFit/>
          </a:bodyPr>
          <a:lstStyle/>
          <a:p>
            <a:pPr>
              <a:defRPr sz="1200" b="1">
                <a:solidFill>
                  <a:srgbClr val="4F46E5"/>
                </a:solidFill>
                <a:latin typeface="Segoe UI"/>
              </a:defRPr>
            </a:pPr>
            <a:r>
              <a:t>TEAM DETAILS</a:t>
            </a:r>
          </a:p>
          <a:p>
            <a:pPr>
              <a:spcBef>
                <a:spcPts val="1000"/>
              </a:spcBef>
              <a:defRPr sz="1200" b="1">
                <a:solidFill>
                  <a:srgbClr val="1E2229"/>
                </a:solidFill>
                <a:latin typeface="Segoe UI"/>
              </a:defRPr>
            </a:pPr>
            <a:r>
              <a:t>• Mohamed Subhan S</a:t>
            </a:r>
          </a:p>
          <a:p>
            <a:pPr>
              <a:defRPr sz="1000">
                <a:solidFill>
                  <a:srgbClr val="5A606C"/>
                </a:solidFill>
                <a:latin typeface="Segoe UI"/>
              </a:defRPr>
            </a:pPr>
            <a:r>
              <a:t>  Team Leader / Full-Stack &amp; AI Engine</a:t>
            </a:r>
          </a:p>
          <a:p>
            <a:pPr>
              <a:spcBef>
                <a:spcPts val="1000"/>
              </a:spcBef>
              <a:defRPr sz="1200" b="1">
                <a:solidFill>
                  <a:srgbClr val="1E2229"/>
                </a:solidFill>
                <a:latin typeface="Segoe UI"/>
              </a:defRPr>
            </a:pPr>
            <a:r>
              <a:t>• Mohamed Yarkhan A</a:t>
            </a:r>
          </a:p>
          <a:p>
            <a:pPr>
              <a:defRPr sz="1000">
                <a:solidFill>
                  <a:srgbClr val="5A606C"/>
                </a:solidFill>
                <a:latin typeface="Segoe UI"/>
              </a:defRPr>
            </a:pPr>
            <a:r>
              <a:t>  Team Member / PWA &amp; Offline Sync</a:t>
            </a:r>
          </a:p>
          <a:p>
            <a:pPr>
              <a:spcBef>
                <a:spcPts val="1000"/>
              </a:spcBef>
              <a:defRPr sz="1200" b="1">
                <a:solidFill>
                  <a:srgbClr val="1E2229"/>
                </a:solidFill>
                <a:latin typeface="Segoe UI"/>
              </a:defRPr>
            </a:pPr>
            <a:r>
              <a:t>• Mari Muthu Prakash M</a:t>
            </a:r>
          </a:p>
          <a:p>
            <a:pPr>
              <a:defRPr sz="1000">
                <a:solidFill>
                  <a:srgbClr val="5A606C"/>
                </a:solidFill>
                <a:latin typeface="Segoe UI"/>
              </a:defRPr>
            </a:pPr>
            <a:r>
              <a:t>  Team Member / UI/UX &amp; Curriculum</a:t>
            </a:r>
          </a:p>
          <a:p>
            <a:br/>
            <a:pPr>
              <a:spcBef>
                <a:spcPts val="1000"/>
              </a:spcBef>
              <a:defRPr sz="1050" b="1">
                <a:solidFill>
                  <a:srgbClr val="4F46E5"/>
                </a:solidFill>
                <a:latin typeface="Segoe UI"/>
              </a:defRPr>
            </a:pPr>
            <a:r>
              <a:t>INSTITUTION</a:t>
            </a:r>
          </a:p>
          <a:p>
            <a:pPr>
              <a:defRPr sz="1100" b="1">
                <a:solidFill>
                  <a:srgbClr val="1E2229"/>
                </a:solidFill>
                <a:latin typeface="Segoe UI"/>
              </a:defRPr>
            </a:pPr>
            <a:r>
              <a:t>MCA 1st Year</a:t>
            </a:r>
            <a:br/>
            <a:r>
              <a:t>FX Engineering College, Tirunelveli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92608"/>
          </a:xfrm>
          <a:prstGeom prst="roundRect">
            <a:avLst/>
          </a:prstGeom>
          <a:solidFill>
            <a:srgbClr val="FFF0ED"/>
          </a:solidFill>
          <a:ln w="12700">
            <a:solidFill>
              <a:srgbClr val="F95738"/>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defRPr sz="950" b="1">
                <a:solidFill>
                  <a:srgbClr val="F95738"/>
                </a:solidFill>
                <a:latin typeface="Segoe UI"/>
              </a:defRPr>
            </a:pPr>
            <a:r>
              <a:t>1. PROBLEM UNDERSTANDING</a:t>
            </a:r>
          </a:p>
        </p:txBody>
      </p:sp>
      <p:sp>
        <p:nvSpPr>
          <p:cNvPr id="4" name="TextBox 3"/>
          <p:cNvSpPr txBox="1"/>
          <p:nvPr/>
        </p:nvSpPr>
        <p:spPr>
          <a:xfrm>
            <a:off x="731520" y="685800"/>
            <a:ext cx="10728655" cy="457200"/>
          </a:xfrm>
          <a:prstGeom prst="rect">
            <a:avLst/>
          </a:prstGeom>
          <a:noFill/>
        </p:spPr>
        <p:txBody>
          <a:bodyPr wrap="square" lIns="0" rIns="0" tIns="0" bIns="0">
            <a:spAutoFit/>
          </a:bodyPr>
          <a:lstStyle/>
          <a:p>
            <a:pPr>
              <a:defRPr sz="2100" b="1">
                <a:solidFill>
                  <a:srgbClr val="1E2229"/>
                </a:solidFill>
                <a:latin typeface="Segoe UI"/>
              </a:defRPr>
            </a:pPr>
            <a:r>
              <a:t>The Rural Connectivity &amp; Foundational Learning Gap</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150">
                <a:solidFill>
                  <a:srgbClr val="5A606C"/>
                </a:solidFill>
                <a:latin typeface="Segoe UI"/>
              </a:defRPr>
            </a:pPr>
            <a:r>
              <a:t>Addressing systemic digital barriers with a concrete rural learner persona.</a:t>
            </a:r>
          </a:p>
        </p:txBody>
      </p:sp>
      <p:sp>
        <p:nvSpPr>
          <p:cNvPr id="6" name="Rounded Rectangle 5"/>
          <p:cNvSpPr/>
          <p:nvPr/>
        </p:nvSpPr>
        <p:spPr>
          <a:xfrm>
            <a:off x="731520" y="1645920"/>
            <a:ext cx="3383280" cy="4663440"/>
          </a:xfrm>
          <a:prstGeom prst="roundRect">
            <a:avLst/>
          </a:prstGeom>
          <a:solidFill>
            <a:srgbClr val="FFFFFF"/>
          </a:solidFill>
          <a:ln w="12700">
            <a:solidFill>
              <a:srgbClr val="E5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3108960" cy="4297680"/>
          </a:xfrm>
          <a:prstGeom prst="rect">
            <a:avLst/>
          </a:prstGeom>
          <a:noFill/>
        </p:spPr>
        <p:txBody>
          <a:bodyPr wrap="square">
            <a:spAutoFit/>
          </a:bodyPr>
          <a:lstStyle/>
          <a:p>
            <a:pPr>
              <a:defRPr sz="1150" b="1">
                <a:solidFill>
                  <a:srgbClr val="F95738"/>
                </a:solidFill>
                <a:latin typeface="Segoe UI"/>
              </a:defRPr>
            </a:pPr>
            <a:r>
              <a:t>INTERMITTENT CONNECTIVITY</a:t>
            </a:r>
          </a:p>
          <a:p>
            <a:pPr>
              <a:spcBef>
                <a:spcPts val="800"/>
              </a:spcBef>
              <a:defRPr sz="1050">
                <a:solidFill>
                  <a:srgbClr val="5A606C"/>
                </a:solidFill>
                <a:latin typeface="Segoe UI"/>
              </a:defRPr>
            </a:pPr>
            <a:r>
              <a:t>• 2G/3G Speeds &amp; Blackouts: Standard cloud LMS platforms crash during frequent signal drops.</a:t>
            </a:r>
          </a:p>
          <a:p>
            <a:pPr>
              <a:spcBef>
                <a:spcPts val="800"/>
              </a:spcBef>
              <a:defRPr sz="1050">
                <a:solidFill>
                  <a:srgbClr val="5A606C"/>
                </a:solidFill>
                <a:latin typeface="Segoe UI"/>
              </a:defRPr>
            </a:pPr>
            <a:r>
              <a:t>• Cloud AI Chatbot Failure: Generic AI apps require continuous 5G streams, locking up in rural villages.</a:t>
            </a:r>
          </a:p>
          <a:p>
            <a:pPr>
              <a:spcBef>
                <a:spcPts val="800"/>
              </a:spcBef>
              <a:defRPr sz="1050">
                <a:solidFill>
                  <a:srgbClr val="5A606C"/>
                </a:solidFill>
                <a:latin typeface="Segoe UI"/>
              </a:defRPr>
            </a:pPr>
            <a:r>
              <a:t>• Heavy Video Buffering: Large 50MB MP4 streaming causes high student drop-out rates.</a:t>
            </a:r>
          </a:p>
        </p:txBody>
      </p:sp>
      <p:sp>
        <p:nvSpPr>
          <p:cNvPr id="8" name="Rounded Rectangle 7"/>
          <p:cNvSpPr/>
          <p:nvPr/>
        </p:nvSpPr>
        <p:spPr>
          <a:xfrm>
            <a:off x="4398264" y="1645920"/>
            <a:ext cx="3383280" cy="4663440"/>
          </a:xfrm>
          <a:prstGeom prst="roundRect">
            <a:avLst/>
          </a:prstGeom>
          <a:solidFill>
            <a:srgbClr val="FFFFFF"/>
          </a:solidFill>
          <a:ln w="12700">
            <a:solidFill>
              <a:srgbClr val="E5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5424" y="1828800"/>
            <a:ext cx="3108960" cy="4297680"/>
          </a:xfrm>
          <a:prstGeom prst="rect">
            <a:avLst/>
          </a:prstGeom>
          <a:noFill/>
        </p:spPr>
        <p:txBody>
          <a:bodyPr wrap="square">
            <a:spAutoFit/>
          </a:bodyPr>
          <a:lstStyle/>
          <a:p>
            <a:pPr>
              <a:defRPr sz="1150" b="1">
                <a:solidFill>
                  <a:srgbClr val="4F46E5"/>
                </a:solidFill>
                <a:latin typeface="Segoe UI"/>
              </a:defRPr>
            </a:pPr>
            <a:r>
              <a:t>ONE-SIZE-FITS-ALL CONTENT</a:t>
            </a:r>
          </a:p>
          <a:p>
            <a:pPr>
              <a:spcBef>
                <a:spcPts val="800"/>
              </a:spcBef>
              <a:defRPr sz="1050">
                <a:solidFill>
                  <a:srgbClr val="5A606C"/>
                </a:solidFill>
                <a:latin typeface="Segoe UI"/>
              </a:defRPr>
            </a:pPr>
            <a:r>
              <a:t>• Unaddressed Misconceptions: Classrooms move forward regardless of foundational concept gaps.</a:t>
            </a:r>
          </a:p>
          <a:p>
            <a:pPr>
              <a:spcBef>
                <a:spcPts val="800"/>
              </a:spcBef>
              <a:defRPr sz="1050">
                <a:solidFill>
                  <a:srgbClr val="5A606C"/>
                </a:solidFill>
                <a:latin typeface="Segoe UI"/>
              </a:defRPr>
            </a:pPr>
            <a:r>
              <a:t>• Algebra &amp; Math Friction: Students struggling with 2-step equations get left behind without targeted hints.</a:t>
            </a:r>
          </a:p>
          <a:p>
            <a:pPr>
              <a:spcBef>
                <a:spcPts val="800"/>
              </a:spcBef>
              <a:defRPr sz="1050">
                <a:solidFill>
                  <a:srgbClr val="5A606C"/>
                </a:solidFill>
                <a:latin typeface="Segoe UI"/>
              </a:defRPr>
            </a:pPr>
            <a:r>
              <a:t>• Static PDF Limitations: Textbooks lack interactive diagnostic feedback and native spoken audio.</a:t>
            </a:r>
          </a:p>
        </p:txBody>
      </p:sp>
      <p:sp>
        <p:nvSpPr>
          <p:cNvPr id="10" name="Rounded Rectangle 9"/>
          <p:cNvSpPr/>
          <p:nvPr/>
        </p:nvSpPr>
        <p:spPr>
          <a:xfrm>
            <a:off x="8065008" y="1645920"/>
            <a:ext cx="3383280" cy="4663440"/>
          </a:xfrm>
          <a:prstGeom prst="roundRect">
            <a:avLst/>
          </a:prstGeom>
          <a:solidFill>
            <a:srgbClr val="EEFDF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02168" y="1828800"/>
            <a:ext cx="3108960" cy="4297680"/>
          </a:xfrm>
          <a:prstGeom prst="rect">
            <a:avLst/>
          </a:prstGeom>
          <a:noFill/>
        </p:spPr>
        <p:txBody>
          <a:bodyPr wrap="square">
            <a:spAutoFit/>
          </a:bodyPr>
          <a:lstStyle/>
          <a:p>
            <a:pPr>
              <a:defRPr sz="1150" b="1">
                <a:solidFill>
                  <a:srgbClr val="0D9488"/>
                </a:solidFill>
                <a:latin typeface="Segoe UI"/>
              </a:defRPr>
            </a:pPr>
            <a:r>
              <a:t>CONCRETE USER PERSONA</a:t>
            </a:r>
          </a:p>
          <a:p>
            <a:pPr>
              <a:spcBef>
                <a:spcPts val="800"/>
              </a:spcBef>
              <a:defRPr sz="1050">
                <a:solidFill>
                  <a:srgbClr val="1E2229"/>
                </a:solidFill>
                <a:latin typeface="Segoe UI"/>
              </a:defRPr>
            </a:pPr>
            <a:r>
              <a:t>Meet Aarav (7th Grade, Rural Village):</a:t>
            </a:r>
            <a:br/>
            <a:r>
              <a:t>• Device: Shares a 16GB mobile phone with 3 family members in an intermittent 2G zone.</a:t>
            </a:r>
            <a:br/>
            <a:br/>
            <a:r>
              <a:t>• Gap: Missed inverse operation steps in algebra equations.</a:t>
            </a:r>
            <a:br/>
            <a:br/>
            <a:r>
              <a:t>• Needs: A system that pinpoints his exact misconception, plays video/audio offline in Tamil, and syncs progress evidence to his teacher when signal returns.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92608"/>
          </a:xfrm>
          <a:prstGeom prst="roundRect">
            <a:avLst/>
          </a:prstGeom>
          <a:solidFill>
            <a:srgbClr val="FFF0ED"/>
          </a:solidFill>
          <a:ln w="12700">
            <a:solidFill>
              <a:srgbClr val="F95738"/>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defRPr sz="950" b="1">
                <a:solidFill>
                  <a:srgbClr val="F95738"/>
                </a:solidFill>
                <a:latin typeface="Segoe UI"/>
              </a:defRPr>
            </a:pPr>
            <a:r>
              <a:t>2. PROPOSED SOLUTION</a:t>
            </a:r>
          </a:p>
        </p:txBody>
      </p:sp>
      <p:sp>
        <p:nvSpPr>
          <p:cNvPr id="4" name="TextBox 3"/>
          <p:cNvSpPr txBox="1"/>
          <p:nvPr/>
        </p:nvSpPr>
        <p:spPr>
          <a:xfrm>
            <a:off x="731520" y="685800"/>
            <a:ext cx="10728655" cy="457200"/>
          </a:xfrm>
          <a:prstGeom prst="rect">
            <a:avLst/>
          </a:prstGeom>
          <a:noFill/>
        </p:spPr>
        <p:txBody>
          <a:bodyPr wrap="square" lIns="0" rIns="0" tIns="0" bIns="0">
            <a:spAutoFit/>
          </a:bodyPr>
          <a:lstStyle/>
          <a:p>
            <a:pPr>
              <a:defRPr sz="2100" b="1">
                <a:solidFill>
                  <a:srgbClr val="1E2229"/>
                </a:solidFill>
                <a:latin typeface="Segoe UI"/>
              </a:defRPr>
            </a:pPr>
            <a:r>
              <a:t>Offline Orbit: Connected Learning Recovery System</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150">
                <a:solidFill>
                  <a:srgbClr val="5A606C"/>
                </a:solidFill>
                <a:latin typeface="Segoe UI"/>
              </a:defRPr>
            </a:pPr>
            <a:r>
              <a:t>A structured 4-pillar loop delivering personalized remediation with zero network dependency.</a:t>
            </a:r>
          </a:p>
        </p:txBody>
      </p:sp>
      <p:sp>
        <p:nvSpPr>
          <p:cNvPr id="6" name="Rounded Rectangle 5"/>
          <p:cNvSpPr/>
          <p:nvPr/>
        </p:nvSpPr>
        <p:spPr>
          <a:xfrm>
            <a:off x="731520" y="1645920"/>
            <a:ext cx="2468880" cy="4663440"/>
          </a:xfrm>
          <a:prstGeom prst="roundRect">
            <a:avLst/>
          </a:prstGeom>
          <a:solidFill>
            <a:srgbClr val="FFF0ED"/>
          </a:solidFill>
          <a:ln w="12700">
            <a:solidFill>
              <a:srgbClr val="F957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2194560" cy="4297680"/>
          </a:xfrm>
          <a:prstGeom prst="rect">
            <a:avLst/>
          </a:prstGeom>
          <a:noFill/>
        </p:spPr>
        <p:txBody>
          <a:bodyPr wrap="square">
            <a:spAutoFit/>
          </a:bodyPr>
          <a:lstStyle/>
          <a:p>
            <a:pPr>
              <a:defRPr sz="1150" b="1">
                <a:solidFill>
                  <a:srgbClr val="F95738"/>
                </a:solidFill>
                <a:latin typeface="Segoe UI"/>
              </a:defRPr>
            </a:pPr>
            <a:r>
              <a:t>1. DIAGNOSE GAP</a:t>
            </a:r>
          </a:p>
          <a:p>
            <a:br/>
            <a:pPr>
              <a:spcBef>
                <a:spcPts val="800"/>
              </a:spcBef>
              <a:defRPr sz="1050">
                <a:solidFill>
                  <a:srgbClr val="1E2229"/>
                </a:solidFill>
                <a:latin typeface="Segoe UI"/>
              </a:defRPr>
            </a:pPr>
            <a:r>
              <a:t>Adaptive 10-question assessment pinpoints specific sub-topic misconceptions (e.g. inverse ops) in real-time.</a:t>
            </a:r>
          </a:p>
        </p:txBody>
      </p:sp>
      <p:sp>
        <p:nvSpPr>
          <p:cNvPr id="8" name="Rounded Rectangle 7"/>
          <p:cNvSpPr/>
          <p:nvPr/>
        </p:nvSpPr>
        <p:spPr>
          <a:xfrm>
            <a:off x="3483864" y="1645920"/>
            <a:ext cx="2468880" cy="46634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21024" y="1828800"/>
            <a:ext cx="2194560" cy="4297680"/>
          </a:xfrm>
          <a:prstGeom prst="rect">
            <a:avLst/>
          </a:prstGeom>
          <a:noFill/>
        </p:spPr>
        <p:txBody>
          <a:bodyPr wrap="square">
            <a:spAutoFit/>
          </a:bodyPr>
          <a:lstStyle/>
          <a:p>
            <a:pPr>
              <a:defRPr sz="1150" b="1">
                <a:solidFill>
                  <a:srgbClr val="4F46E5"/>
                </a:solidFill>
                <a:latin typeface="Segoe UI"/>
              </a:defRPr>
            </a:pPr>
            <a:r>
              <a:t>2. EXPLAIN RATIONALE</a:t>
            </a:r>
          </a:p>
          <a:p>
            <a:br/>
            <a:pPr>
              <a:spcBef>
                <a:spcPts val="800"/>
              </a:spcBef>
              <a:defRPr sz="1050">
                <a:solidFill>
                  <a:srgbClr val="1E2229"/>
                </a:solidFill>
                <a:latin typeface="Segoe UI"/>
              </a:defRPr>
            </a:pPr>
            <a:r>
              <a:t>Transparent AI recommendation engine explains WHY a topic is suggested based on score &amp; interest domain.</a:t>
            </a:r>
          </a:p>
        </p:txBody>
      </p:sp>
      <p:sp>
        <p:nvSpPr>
          <p:cNvPr id="10" name="Rounded Rectangle 9"/>
          <p:cNvSpPr/>
          <p:nvPr/>
        </p:nvSpPr>
        <p:spPr>
          <a:xfrm>
            <a:off x="6236208" y="1645920"/>
            <a:ext cx="2468880" cy="4663440"/>
          </a:xfrm>
          <a:prstGeom prst="roundRect">
            <a:avLst/>
          </a:prstGeom>
          <a:solidFill>
            <a:srgbClr val="EEFDF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73368" y="1828800"/>
            <a:ext cx="2194560" cy="4297680"/>
          </a:xfrm>
          <a:prstGeom prst="rect">
            <a:avLst/>
          </a:prstGeom>
          <a:noFill/>
        </p:spPr>
        <p:txBody>
          <a:bodyPr wrap="square">
            <a:spAutoFit/>
          </a:bodyPr>
          <a:lstStyle/>
          <a:p>
            <a:pPr>
              <a:defRPr sz="1150" b="1">
                <a:solidFill>
                  <a:srgbClr val="0D9488"/>
                </a:solidFill>
                <a:latin typeface="Segoe UI"/>
              </a:defRPr>
            </a:pPr>
            <a:r>
              <a:t>3. OFFLINE PRACTICE</a:t>
            </a:r>
          </a:p>
          <a:p>
            <a:br/>
            <a:pPr>
              <a:spcBef>
                <a:spcPts val="800"/>
              </a:spcBef>
              <a:defRPr sz="1050">
                <a:solidFill>
                  <a:srgbClr val="1E2229"/>
                </a:solidFill>
                <a:latin typeface="Segoe UI"/>
              </a:defRPr>
            </a:pPr>
            <a:r>
              <a:t>Download standalone ~400KB WebM video packs &amp; play interactive matching games with zero cellular data.</a:t>
            </a:r>
          </a:p>
        </p:txBody>
      </p:sp>
      <p:sp>
        <p:nvSpPr>
          <p:cNvPr id="12" name="Rounded Rectangle 11"/>
          <p:cNvSpPr/>
          <p:nvPr/>
        </p:nvSpPr>
        <p:spPr>
          <a:xfrm>
            <a:off x="8988552" y="1645920"/>
            <a:ext cx="2468880" cy="4663440"/>
          </a:xfrm>
          <a:prstGeom prst="roundRect">
            <a:avLst/>
          </a:prstGeom>
          <a:solidFill>
            <a:srgbClr val="FEF3C7"/>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25712" y="1828800"/>
            <a:ext cx="2194560" cy="4297680"/>
          </a:xfrm>
          <a:prstGeom prst="rect">
            <a:avLst/>
          </a:prstGeom>
          <a:noFill/>
        </p:spPr>
        <p:txBody>
          <a:bodyPr wrap="square">
            <a:spAutoFit/>
          </a:bodyPr>
          <a:lstStyle/>
          <a:p>
            <a:pPr>
              <a:defRPr sz="1150" b="1">
                <a:solidFill>
                  <a:srgbClr val="D97706"/>
                </a:solidFill>
                <a:latin typeface="Segoe UI"/>
              </a:defRPr>
            </a:pPr>
            <a:r>
              <a:t>4. RELIABLE SYNC</a:t>
            </a:r>
          </a:p>
          <a:p>
            <a:br/>
            <a:pPr>
              <a:spcBef>
                <a:spcPts val="800"/>
              </a:spcBef>
              <a:defRPr sz="1050">
                <a:solidFill>
                  <a:srgbClr val="1E2229"/>
                </a:solidFill>
                <a:latin typeface="Segoe UI"/>
              </a:defRPr>
            </a:pPr>
            <a:r>
              <a:t>IndexedDB queues evidence locally; background sync restores data to MongoDB without duplicates.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92608"/>
          </a:xfrm>
          <a:prstGeom prst="roundRect">
            <a:avLst/>
          </a:prstGeom>
          <a:solidFill>
            <a:srgbClr val="FFF0ED"/>
          </a:solidFill>
          <a:ln w="12700">
            <a:solidFill>
              <a:srgbClr val="F95738"/>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defRPr sz="950" b="1">
                <a:solidFill>
                  <a:srgbClr val="F95738"/>
                </a:solidFill>
                <a:latin typeface="Segoe UI"/>
              </a:defRPr>
            </a:pPr>
            <a:r>
              <a:t>3. HOW SOLUTION WORKS</a:t>
            </a:r>
          </a:p>
        </p:txBody>
      </p:sp>
      <p:sp>
        <p:nvSpPr>
          <p:cNvPr id="4" name="TextBox 3"/>
          <p:cNvSpPr txBox="1"/>
          <p:nvPr/>
        </p:nvSpPr>
        <p:spPr>
          <a:xfrm>
            <a:off x="731520" y="685800"/>
            <a:ext cx="10728655" cy="457200"/>
          </a:xfrm>
          <a:prstGeom prst="rect">
            <a:avLst/>
          </a:prstGeom>
          <a:noFill/>
        </p:spPr>
        <p:txBody>
          <a:bodyPr wrap="square" lIns="0" rIns="0" tIns="0" bIns="0">
            <a:spAutoFit/>
          </a:bodyPr>
          <a:lstStyle/>
          <a:p>
            <a:pPr>
              <a:defRPr sz="2100" b="1">
                <a:solidFill>
                  <a:srgbClr val="1E2229"/>
                </a:solidFill>
                <a:latin typeface="Segoe UI"/>
              </a:defRPr>
            </a:pPr>
            <a:r>
              <a:t>End-to-End Learner Journey &amp; Personalization Signals</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150">
                <a:solidFill>
                  <a:srgbClr val="5A606C"/>
                </a:solidFill>
                <a:latin typeface="Segoe UI"/>
              </a:defRPr>
            </a:pPr>
            <a:r>
              <a:t>Step-by-step workflow from diagnostic assessment to mastery verification.</a:t>
            </a:r>
          </a:p>
        </p:txBody>
      </p:sp>
      <p:sp>
        <p:nvSpPr>
          <p:cNvPr id="6" name="Rounded Rectangle 5"/>
          <p:cNvSpPr/>
          <p:nvPr/>
        </p:nvSpPr>
        <p:spPr>
          <a:xfrm>
            <a:off x="731520" y="1645920"/>
            <a:ext cx="5212080" cy="4663440"/>
          </a:xfrm>
          <a:prstGeom prst="roundRect">
            <a:avLst/>
          </a:prstGeom>
          <a:solidFill>
            <a:srgbClr val="FFFFFF"/>
          </a:solidFill>
          <a:ln w="12700">
            <a:solidFill>
              <a:srgbClr val="E5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297680"/>
          </a:xfrm>
          <a:prstGeom prst="rect">
            <a:avLst/>
          </a:prstGeom>
          <a:noFill/>
        </p:spPr>
        <p:txBody>
          <a:bodyPr wrap="square">
            <a:spAutoFit/>
          </a:bodyPr>
          <a:lstStyle/>
          <a:p>
            <a:pPr>
              <a:defRPr sz="1150" b="1">
                <a:solidFill>
                  <a:srgbClr val="F95738"/>
                </a:solidFill>
                <a:latin typeface="Segoe UI"/>
              </a:defRPr>
            </a:pPr>
            <a:r>
              <a:t>5-STEP LEARNER RECOVERY JOURNEY</a:t>
            </a:r>
          </a:p>
          <a:p>
            <a:pPr>
              <a:spcBef>
                <a:spcPts val="600"/>
              </a:spcBef>
              <a:defRPr sz="1000">
                <a:solidFill>
                  <a:srgbClr val="1E2229"/>
                </a:solidFill>
                <a:latin typeface="Segoe UI"/>
              </a:defRPr>
            </a:pPr>
            <a:r>
              <a:t>1. Profile &amp; Tier Selection: Learner selects grade tier (Beginner/Intermediate/Advanced) and interest domain.</a:t>
            </a:r>
          </a:p>
          <a:p>
            <a:pPr>
              <a:spcBef>
                <a:spcPts val="600"/>
              </a:spcBef>
              <a:defRPr sz="1000">
                <a:solidFill>
                  <a:srgbClr val="1E2229"/>
                </a:solidFill>
                <a:latin typeface="Segoe UI"/>
              </a:defRPr>
            </a:pPr>
            <a:r>
              <a:t>2. Adaptive Assessment: 10 targeted questions evaluate foundational understanding.</a:t>
            </a:r>
          </a:p>
          <a:p>
            <a:pPr>
              <a:spcBef>
                <a:spcPts val="600"/>
              </a:spcBef>
              <a:defRPr sz="1000">
                <a:solidFill>
                  <a:srgbClr val="1E2229"/>
                </a:solidFill>
                <a:latin typeface="Segoe UI"/>
              </a:defRPr>
            </a:pPr>
            <a:r>
              <a:t>3. Misconception Rationale: System displays clear error explanations on wrong answers.</a:t>
            </a:r>
          </a:p>
          <a:p>
            <a:pPr>
              <a:spcBef>
                <a:spcPts val="600"/>
              </a:spcBef>
              <a:defRPr sz="1000">
                <a:solidFill>
                  <a:srgbClr val="1E2229"/>
                </a:solidFill>
                <a:latin typeface="Segoe UI"/>
              </a:defRPr>
            </a:pPr>
            <a:r>
              <a:t>4. Offline Pack Download: Learner saves ~400KB lesson pack to local browser IndexedDB.</a:t>
            </a:r>
          </a:p>
          <a:p>
            <a:pPr>
              <a:spcBef>
                <a:spcPts val="600"/>
              </a:spcBef>
              <a:defRPr sz="1000">
                <a:solidFill>
                  <a:srgbClr val="1E2229"/>
                </a:solidFill>
                <a:latin typeface="Segoe UI"/>
              </a:defRPr>
            </a:pPr>
            <a:r>
              <a:t>5. Multilingual Practice: Learner views video narration in Tamil/Hindi/English &amp; plays STEM matching games.</a:t>
            </a:r>
          </a:p>
        </p:txBody>
      </p:sp>
      <p:sp>
        <p:nvSpPr>
          <p:cNvPr id="8" name="Rounded Rectangle 7"/>
          <p:cNvSpPr/>
          <p:nvPr/>
        </p:nvSpPr>
        <p:spPr>
          <a:xfrm>
            <a:off x="6245352" y="1645920"/>
            <a:ext cx="5212080" cy="46634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828800"/>
            <a:ext cx="4846320" cy="4297680"/>
          </a:xfrm>
          <a:prstGeom prst="rect">
            <a:avLst/>
          </a:prstGeom>
          <a:noFill/>
        </p:spPr>
        <p:txBody>
          <a:bodyPr wrap="square">
            <a:spAutoFit/>
          </a:bodyPr>
          <a:lstStyle/>
          <a:p>
            <a:pPr>
              <a:defRPr sz="1150" b="1">
                <a:solidFill>
                  <a:srgbClr val="4F46E5"/>
                </a:solidFill>
                <a:latin typeface="Segoe UI"/>
              </a:defRPr>
            </a:pPr>
            <a:r>
              <a:t>PERSONALIZATION SIGNALS &amp; LOGIC</a:t>
            </a:r>
          </a:p>
          <a:p>
            <a:pPr>
              <a:spcBef>
                <a:spcPts val="800"/>
              </a:spcBef>
              <a:defRPr sz="1050">
                <a:solidFill>
                  <a:srgbClr val="1E2229"/>
                </a:solidFill>
                <a:latin typeface="Segoe UI"/>
              </a:defRPr>
            </a:pPr>
            <a:r>
              <a:t>• Signals Evaluated:</a:t>
            </a:r>
            <a:br/>
            <a:r>
              <a:t>  - Score Trajectory (% correct per sub-topic)</a:t>
            </a:r>
            <a:br/>
            <a:r>
              <a:t>  - Learner Tier (Grade 6-8 vs High School vs Adult)</a:t>
            </a:r>
            <a:br/>
            <a:r>
              <a:t>  - Interest Domain (CompSci &amp; AI, Math, Physics, Bio, Chem)</a:t>
            </a:r>
            <a:br/>
            <a:br/>
            <a:r>
              <a:t>• Why It Is Understandable:</a:t>
            </a:r>
            <a:br/>
            <a:r>
              <a:t>  - Explicit Rationale: 'Recommended because you missed inverse operation steps on Question 2'.</a:t>
            </a:r>
            <a:br/>
            <a:r>
              <a:t>  - No Black-Box AI: Rule-based recommendation trees backed by a 150-question STEM bank.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92608"/>
          </a:xfrm>
          <a:prstGeom prst="roundRect">
            <a:avLst/>
          </a:prstGeom>
          <a:solidFill>
            <a:srgbClr val="FFF0ED"/>
          </a:solidFill>
          <a:ln w="12700">
            <a:solidFill>
              <a:srgbClr val="F95738"/>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defRPr sz="950" b="1">
                <a:solidFill>
                  <a:srgbClr val="F95738"/>
                </a:solidFill>
                <a:latin typeface="Segoe UI"/>
              </a:defRPr>
            </a:pPr>
            <a:r>
              <a:t>4. SYSTEM ARCHITECTURE</a:t>
            </a:r>
          </a:p>
        </p:txBody>
      </p:sp>
      <p:sp>
        <p:nvSpPr>
          <p:cNvPr id="4" name="TextBox 3"/>
          <p:cNvSpPr txBox="1"/>
          <p:nvPr/>
        </p:nvSpPr>
        <p:spPr>
          <a:xfrm>
            <a:off x="731520" y="685800"/>
            <a:ext cx="10728655" cy="457200"/>
          </a:xfrm>
          <a:prstGeom prst="rect">
            <a:avLst/>
          </a:prstGeom>
          <a:noFill/>
        </p:spPr>
        <p:txBody>
          <a:bodyPr wrap="square" lIns="0" rIns="0" tIns="0" bIns="0">
            <a:spAutoFit/>
          </a:bodyPr>
          <a:lstStyle/>
          <a:p>
            <a:pPr>
              <a:defRPr sz="2100" b="1">
                <a:solidFill>
                  <a:srgbClr val="1E2229"/>
                </a:solidFill>
                <a:latin typeface="Segoe UI"/>
              </a:defRPr>
            </a:pPr>
            <a:r>
              <a:t>Production Technology Stack &amp; Data Flow Architecture</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150">
                <a:solidFill>
                  <a:srgbClr val="5A606C"/>
                </a:solidFill>
                <a:latin typeface="Segoe UI"/>
              </a:defRPr>
            </a:pPr>
            <a:r>
              <a:t>Full-stack Web &amp; PWA architecture optimized for low-spec hardware.</a:t>
            </a:r>
          </a:p>
        </p:txBody>
      </p:sp>
      <p:sp>
        <p:nvSpPr>
          <p:cNvPr id="6" name="Rounded Rectangle 5"/>
          <p:cNvSpPr/>
          <p:nvPr/>
        </p:nvSpPr>
        <p:spPr>
          <a:xfrm>
            <a:off x="731520" y="1645920"/>
            <a:ext cx="5212080" cy="4663440"/>
          </a:xfrm>
          <a:prstGeom prst="roundRect">
            <a:avLst/>
          </a:prstGeom>
          <a:solidFill>
            <a:srgbClr val="FFFFFF"/>
          </a:solidFill>
          <a:ln w="12700">
            <a:solidFill>
              <a:srgbClr val="E5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297680"/>
          </a:xfrm>
          <a:prstGeom prst="rect">
            <a:avLst/>
          </a:prstGeom>
          <a:noFill/>
        </p:spPr>
        <p:txBody>
          <a:bodyPr wrap="square">
            <a:spAutoFit/>
          </a:bodyPr>
          <a:lstStyle/>
          <a:p>
            <a:pPr>
              <a:defRPr sz="1150" b="1">
                <a:solidFill>
                  <a:srgbClr val="4F46E5"/>
                </a:solidFill>
                <a:latin typeface="Segoe UI"/>
              </a:defRPr>
            </a:pPr>
            <a:r>
              <a:t>PRODUCTION TECHNOLOGY STACK</a:t>
            </a:r>
          </a:p>
          <a:p>
            <a:pPr>
              <a:spcBef>
                <a:spcPts val="800"/>
              </a:spcBef>
              <a:defRPr sz="1000">
                <a:solidFill>
                  <a:srgbClr val="1E2229"/>
                </a:solidFill>
                <a:latin typeface="Segoe UI"/>
              </a:defRPr>
            </a:pPr>
            <a:r>
              <a:t>• Frontend UI: React 18, Vite, Tailwind CSS (#FAF9F6 Light Theme), Lucide Icons, Canvas-Confetti, Recharts.</a:t>
            </a:r>
          </a:p>
          <a:p>
            <a:pPr>
              <a:spcBef>
                <a:spcPts val="800"/>
              </a:spcBef>
              <a:defRPr sz="1000">
                <a:solidFill>
                  <a:srgbClr val="1E2229"/>
                </a:solidFill>
                <a:latin typeface="Segoe UI"/>
              </a:defRPr>
            </a:pPr>
            <a:r>
              <a:t>• Backend REST APIs: Node.js, Express REST Server, Brevo Email API for progress reports.</a:t>
            </a:r>
          </a:p>
          <a:p>
            <a:pPr>
              <a:spcBef>
                <a:spcPts val="800"/>
              </a:spcBef>
              <a:defRPr sz="1000">
                <a:solidFill>
                  <a:srgbClr val="1E2229"/>
                </a:solidFill>
                <a:latin typeface="Segoe UI"/>
              </a:defRPr>
            </a:pPr>
            <a:r>
              <a:t>• Offline Engine: IndexedDB, Service Worker PWA, Web Audio &amp; Web Speech Synthesis API.</a:t>
            </a:r>
          </a:p>
          <a:p>
            <a:pPr>
              <a:spcBef>
                <a:spcPts val="800"/>
              </a:spcBef>
              <a:defRPr sz="1000">
                <a:solidFill>
                  <a:srgbClr val="1E2229"/>
                </a:solidFill>
                <a:latin typeface="Segoe UI"/>
              </a:defRPr>
            </a:pPr>
            <a:r>
              <a:t>• Database &amp; Cloud: MongoDB Atlas for cloud sync &amp; teacher classroom room management.</a:t>
            </a:r>
          </a:p>
        </p:txBody>
      </p:sp>
      <p:sp>
        <p:nvSpPr>
          <p:cNvPr id="8" name="Rounded Rectangle 7"/>
          <p:cNvSpPr/>
          <p:nvPr/>
        </p:nvSpPr>
        <p:spPr>
          <a:xfrm>
            <a:off x="6245352" y="1645920"/>
            <a:ext cx="5212080" cy="4663440"/>
          </a:xfrm>
          <a:prstGeom prst="roundRect">
            <a:avLst/>
          </a:prstGeom>
          <a:solidFill>
            <a:srgbClr val="EEFDFB"/>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828800"/>
            <a:ext cx="4846320" cy="4297680"/>
          </a:xfrm>
          <a:prstGeom prst="rect">
            <a:avLst/>
          </a:prstGeom>
          <a:noFill/>
        </p:spPr>
        <p:txBody>
          <a:bodyPr wrap="square">
            <a:spAutoFit/>
          </a:bodyPr>
          <a:lstStyle/>
          <a:p>
            <a:pPr>
              <a:defRPr sz="1150" b="1">
                <a:solidFill>
                  <a:srgbClr val="0D9488"/>
                </a:solidFill>
                <a:latin typeface="Segoe UI"/>
              </a:defRPr>
            </a:pPr>
            <a:r>
              <a:t>DATA FLOW &amp; OFFLINE SYNC ARCHITECTURE</a:t>
            </a:r>
          </a:p>
          <a:p>
            <a:br/>
            <a:pPr>
              <a:spcBef>
                <a:spcPts val="600"/>
              </a:spcBef>
              <a:defRPr sz="950" b="1">
                <a:solidFill>
                  <a:srgbClr val="1E2229"/>
                </a:solidFill>
                <a:latin typeface="Segoe UI"/>
              </a:defRPr>
            </a:pPr>
            <a:r>
              <a:t>[ Client Browser (React + PWA) ]</a:t>
            </a:r>
            <a:br/>
            <a:r>
              <a:t>       │</a:t>
            </a:r>
            <a:br/>
            <a:r>
              <a:t>       ├─► IndexedDB Stores (lessons, attempts, syncQueue)</a:t>
            </a:r>
            <a:br/>
            <a:r>
              <a:t>       │</a:t>
            </a:r>
            <a:br/>
            <a:r>
              <a:t>       ├─► Web Speech API (Offline TTS: English, Tamil, Hindi)</a:t>
            </a:r>
            <a:br/>
            <a:r>
              <a:t>       │</a:t>
            </a:r>
            <a:br/>
            <a:r>
              <a:t>  (Network Connection Restored)</a:t>
            </a:r>
            <a:br/>
            <a:r>
              <a:t>       │</a:t>
            </a:r>
            <a:br/>
            <a:r>
              <a:t>       ▼</a:t>
            </a:r>
            <a:br/>
            <a:r>
              <a:t>[ Express Node.js Server ] ──► [ MongoDB Atlas ]</a:t>
            </a:r>
            <a:br/>
            <a:r>
              <a:t>       │</a:t>
            </a:r>
            <a:br/>
            <a:r>
              <a:t>       └─► [ Brevo Email API ] (Progress Notices)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92608"/>
          </a:xfrm>
          <a:prstGeom prst="roundRect">
            <a:avLst/>
          </a:prstGeom>
          <a:solidFill>
            <a:srgbClr val="FFF0ED"/>
          </a:solidFill>
          <a:ln w="12700">
            <a:solidFill>
              <a:srgbClr val="F95738"/>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defRPr sz="950" b="1">
                <a:solidFill>
                  <a:srgbClr val="F95738"/>
                </a:solidFill>
                <a:latin typeface="Segoe UI"/>
              </a:defRPr>
            </a:pPr>
            <a:r>
              <a:t>5. INNOVATION &amp; UNIQUENESS</a:t>
            </a:r>
          </a:p>
        </p:txBody>
      </p:sp>
      <p:sp>
        <p:nvSpPr>
          <p:cNvPr id="4" name="TextBox 3"/>
          <p:cNvSpPr txBox="1"/>
          <p:nvPr/>
        </p:nvSpPr>
        <p:spPr>
          <a:xfrm>
            <a:off x="731520" y="685800"/>
            <a:ext cx="10728655" cy="457200"/>
          </a:xfrm>
          <a:prstGeom prst="rect">
            <a:avLst/>
          </a:prstGeom>
          <a:noFill/>
        </p:spPr>
        <p:txBody>
          <a:bodyPr wrap="square" lIns="0" rIns="0" tIns="0" bIns="0">
            <a:spAutoFit/>
          </a:bodyPr>
          <a:lstStyle/>
          <a:p>
            <a:pPr>
              <a:defRPr sz="2100" b="1">
                <a:solidFill>
                  <a:srgbClr val="1E2229"/>
                </a:solidFill>
                <a:latin typeface="Segoe UI"/>
              </a:defRPr>
            </a:pPr>
            <a:r>
              <a:t>Low-Bandwidth Multilingual Video &amp; Dynamic Question Generator</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150">
                <a:solidFill>
                  <a:srgbClr val="5A606C"/>
                </a:solidFill>
                <a:latin typeface="Segoe UI"/>
              </a:defRPr>
            </a:pPr>
            <a:r>
              <a:t>Engineering innovations solving mobile storage and network scarcity.</a:t>
            </a:r>
          </a:p>
        </p:txBody>
      </p:sp>
      <p:sp>
        <p:nvSpPr>
          <p:cNvPr id="6" name="Rounded Rectangle 5"/>
          <p:cNvSpPr/>
          <p:nvPr/>
        </p:nvSpPr>
        <p:spPr>
          <a:xfrm>
            <a:off x="731520" y="1645920"/>
            <a:ext cx="3383280" cy="4663440"/>
          </a:xfrm>
          <a:prstGeom prst="roundRect">
            <a:avLst/>
          </a:prstGeom>
          <a:solidFill>
            <a:srgbClr val="FFFFFF"/>
          </a:solidFill>
          <a:ln w="12700">
            <a:solidFill>
              <a:srgbClr val="E5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28800"/>
            <a:ext cx="3108960" cy="4297680"/>
          </a:xfrm>
          <a:prstGeom prst="rect">
            <a:avLst/>
          </a:prstGeom>
          <a:noFill/>
        </p:spPr>
        <p:txBody>
          <a:bodyPr wrap="square">
            <a:spAutoFit/>
          </a:bodyPr>
          <a:lstStyle/>
          <a:p>
            <a:pPr>
              <a:defRPr sz="1150" b="1">
                <a:solidFill>
                  <a:srgbClr val="F95738"/>
                </a:solidFill>
                <a:latin typeface="Segoe UI"/>
              </a:defRPr>
            </a:pPr>
            <a:r>
              <a:t>LOW-BANDWIDTH MULTILINGUAL</a:t>
            </a:r>
          </a:p>
          <a:p>
            <a:pPr>
              <a:spcBef>
                <a:spcPts val="600"/>
              </a:spcBef>
              <a:defRPr sz="1000">
                <a:solidFill>
                  <a:srgbClr val="5A606C"/>
                </a:solidFill>
                <a:latin typeface="Segoe UI"/>
              </a:defRPr>
            </a:pPr>
            <a:r>
              <a:t>• WebM Video Blobs (~400KB per pack) replace heavy 50MB MP4 streams.</a:t>
            </a:r>
            <a:br/>
            <a:br/>
            <a:r>
              <a:t>• Native Web Speech TTS synthesizes spoken narration in 3 languages:</a:t>
            </a:r>
            <a:br/>
            <a:r>
              <a:t>  1. English (en-US)</a:t>
            </a:r>
            <a:br/>
            <a:r>
              <a:t>  2. Tamil (ta-IN)</a:t>
            </a:r>
            <a:br/>
            <a:r>
              <a:t>  3. Hindi (hi-IN)</a:t>
            </a:r>
            <a:br/>
            <a:br/>
            <a:r>
              <a:t>• Zero data consumption during repeated offline video play.</a:t>
            </a:r>
          </a:p>
        </p:txBody>
      </p:sp>
      <p:sp>
        <p:nvSpPr>
          <p:cNvPr id="8" name="Rounded Rectangle 7"/>
          <p:cNvSpPr/>
          <p:nvPr/>
        </p:nvSpPr>
        <p:spPr>
          <a:xfrm>
            <a:off x="4398264" y="1645920"/>
            <a:ext cx="3383280" cy="4663440"/>
          </a:xfrm>
          <a:prstGeom prst="roundRect">
            <a:avLst/>
          </a:prstGeom>
          <a:solidFill>
            <a:srgbClr val="FFFFFF"/>
          </a:solidFill>
          <a:ln w="12700">
            <a:solidFill>
              <a:srgbClr val="E5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5424" y="1828800"/>
            <a:ext cx="3108960" cy="4297680"/>
          </a:xfrm>
          <a:prstGeom prst="rect">
            <a:avLst/>
          </a:prstGeom>
          <a:noFill/>
        </p:spPr>
        <p:txBody>
          <a:bodyPr wrap="square">
            <a:spAutoFit/>
          </a:bodyPr>
          <a:lstStyle/>
          <a:p>
            <a:pPr>
              <a:defRPr sz="1150" b="1">
                <a:solidFill>
                  <a:srgbClr val="4F46E5"/>
                </a:solidFill>
                <a:latin typeface="Segoe UI"/>
              </a:defRPr>
            </a:pPr>
            <a:r>
              <a:t>150-QUESTION STEM BANK</a:t>
            </a:r>
          </a:p>
          <a:p>
            <a:pPr>
              <a:spcBef>
                <a:spcPts val="600"/>
              </a:spcBef>
              <a:defRPr sz="1000">
                <a:solidFill>
                  <a:srgbClr val="5A606C"/>
                </a:solidFill>
                <a:latin typeface="Segoe UI"/>
              </a:defRPr>
            </a:pPr>
            <a:r>
              <a:t>• 5 Core Domains:</a:t>
            </a:r>
            <a:br/>
            <a:r>
              <a:t>  - Computer Science &amp; AI</a:t>
            </a:r>
            <a:br/>
            <a:r>
              <a:t>  - Mathematics</a:t>
            </a:r>
            <a:br/>
            <a:r>
              <a:t>  - Physics</a:t>
            </a:r>
            <a:br/>
            <a:r>
              <a:t>  - Biology</a:t>
            </a:r>
            <a:br/>
            <a:r>
              <a:t>  - Chemistry</a:t>
            </a:r>
            <a:br/>
            <a:br/>
            <a:r>
              <a:t>• 3 Difficulty Tiers: Beginner, Intermediate, Advanced.</a:t>
            </a:r>
            <a:br/>
            <a:br/>
            <a:r>
              <a:t>• Fresh Retakes: Shuffles questions &amp; options so retakes never repeat identical tests.</a:t>
            </a:r>
          </a:p>
        </p:txBody>
      </p:sp>
      <p:sp>
        <p:nvSpPr>
          <p:cNvPr id="10" name="Rounded Rectangle 9"/>
          <p:cNvSpPr/>
          <p:nvPr/>
        </p:nvSpPr>
        <p:spPr>
          <a:xfrm>
            <a:off x="8065008" y="1645920"/>
            <a:ext cx="3383280" cy="4663440"/>
          </a:xfrm>
          <a:prstGeom prst="roundRect">
            <a:avLst/>
          </a:prstGeom>
          <a:solidFill>
            <a:srgbClr val="FFF0ED"/>
          </a:solidFill>
          <a:ln w="12700">
            <a:solidFill>
              <a:srgbClr val="F957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02168" y="1828800"/>
            <a:ext cx="3108960" cy="4297680"/>
          </a:xfrm>
          <a:prstGeom prst="rect">
            <a:avLst/>
          </a:prstGeom>
          <a:noFill/>
        </p:spPr>
        <p:txBody>
          <a:bodyPr wrap="square">
            <a:spAutoFit/>
          </a:bodyPr>
          <a:lstStyle/>
          <a:p>
            <a:pPr>
              <a:defRPr sz="1150" b="1">
                <a:solidFill>
                  <a:srgbClr val="F95738"/>
                </a:solidFill>
                <a:latin typeface="Segoe UI"/>
              </a:defRPr>
            </a:pPr>
            <a:r>
              <a:t>DUPLICATE-PREVENTING SYNC</a:t>
            </a:r>
          </a:p>
          <a:p>
            <a:pPr>
              <a:spcBef>
                <a:spcPts val="600"/>
              </a:spcBef>
              <a:defRPr sz="1000">
                <a:solidFill>
                  <a:srgbClr val="1E2229"/>
                </a:solidFill>
                <a:latin typeface="Segoe UI"/>
              </a:defRPr>
            </a:pPr>
            <a:r>
              <a:t>• Local Queue: Quiz attempts are timestamped and assigned unique GUID keys in IndexedDB.</a:t>
            </a:r>
            <a:br/>
            <a:br/>
            <a:r>
              <a:t>• Idempotent Transmission: Sync manager transmits pending items when network restores.</a:t>
            </a:r>
            <a:br/>
            <a:br/>
            <a:r>
              <a:t>• Duplicate Prevention: Server checks quizId + timestamp hash before recording, preventing double counts.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92608"/>
          </a:xfrm>
          <a:prstGeom prst="roundRect">
            <a:avLst/>
          </a:prstGeom>
          <a:solidFill>
            <a:srgbClr val="FFF0ED"/>
          </a:solidFill>
          <a:ln w="12700">
            <a:solidFill>
              <a:srgbClr val="F95738"/>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defRPr sz="950" b="1">
                <a:solidFill>
                  <a:srgbClr val="F95738"/>
                </a:solidFill>
                <a:latin typeface="Segoe UI"/>
              </a:defRPr>
            </a:pPr>
            <a:r>
              <a:t>6. USABILITY &amp; FEASIBILITY</a:t>
            </a:r>
          </a:p>
        </p:txBody>
      </p:sp>
      <p:sp>
        <p:nvSpPr>
          <p:cNvPr id="4" name="TextBox 3"/>
          <p:cNvSpPr txBox="1"/>
          <p:nvPr/>
        </p:nvSpPr>
        <p:spPr>
          <a:xfrm>
            <a:off x="731520" y="685800"/>
            <a:ext cx="10728655" cy="457200"/>
          </a:xfrm>
          <a:prstGeom prst="rect">
            <a:avLst/>
          </a:prstGeom>
          <a:noFill/>
        </p:spPr>
        <p:txBody>
          <a:bodyPr wrap="square" lIns="0" rIns="0" tIns="0" bIns="0">
            <a:spAutoFit/>
          </a:bodyPr>
          <a:lstStyle/>
          <a:p>
            <a:pPr>
              <a:defRPr sz="2100" b="1">
                <a:solidFill>
                  <a:srgbClr val="1E2229"/>
                </a:solidFill>
                <a:latin typeface="Segoe UI"/>
              </a:defRPr>
            </a:pPr>
            <a:r>
              <a:t>Teacher Classroom Monitoring &amp; Student Analytics</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150">
                <a:solidFill>
                  <a:srgbClr val="5A606C"/>
                </a:solidFill>
                <a:latin typeface="Segoe UI"/>
              </a:defRPr>
            </a:pPr>
            <a:r>
              <a:t>Actionable analytics connecting rural teachers with student concept gaps.</a:t>
            </a:r>
          </a:p>
        </p:txBody>
      </p:sp>
      <p:sp>
        <p:nvSpPr>
          <p:cNvPr id="6" name="Rounded Rectangle 5"/>
          <p:cNvSpPr/>
          <p:nvPr/>
        </p:nvSpPr>
        <p:spPr>
          <a:xfrm>
            <a:off x="731520" y="1645920"/>
            <a:ext cx="5212080" cy="4663440"/>
          </a:xfrm>
          <a:prstGeom prst="roundRect">
            <a:avLst/>
          </a:prstGeom>
          <a:solidFill>
            <a:srgbClr val="FFFFFF"/>
          </a:solidFill>
          <a:ln w="12700">
            <a:solidFill>
              <a:srgbClr val="E5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297680"/>
          </a:xfrm>
          <a:prstGeom prst="rect">
            <a:avLst/>
          </a:prstGeom>
          <a:noFill/>
        </p:spPr>
        <p:txBody>
          <a:bodyPr wrap="square">
            <a:spAutoFit/>
          </a:bodyPr>
          <a:lstStyle/>
          <a:p>
            <a:pPr>
              <a:defRPr sz="1150" b="1">
                <a:solidFill>
                  <a:srgbClr val="0D9488"/>
                </a:solidFill>
                <a:latin typeface="Segoe UI"/>
              </a:defRPr>
            </a:pPr>
            <a:r>
              <a:t>STUDENT MASTERY ANALYTICS</a:t>
            </a:r>
          </a:p>
          <a:p>
            <a:pPr>
              <a:spcBef>
                <a:spcPts val="600"/>
              </a:spcBef>
              <a:defRPr sz="1000">
                <a:solidFill>
                  <a:srgbClr val="1E2229"/>
                </a:solidFill>
                <a:latin typeface="Segoe UI"/>
              </a:defRPr>
            </a:pPr>
            <a:r>
              <a:t>• Score Trajectory Curve: Visual charts mapping score growth across recent diagnostic attempts.</a:t>
            </a:r>
            <a:br/>
            <a:br/>
            <a:r>
              <a:t>• Topic Mastery Categorization:</a:t>
            </a:r>
            <a:br/>
            <a:r>
              <a:t>  - Mastered (≥80% score)</a:t>
            </a:r>
            <a:br/>
            <a:r>
              <a:t>  - Practising (50-79% score)</a:t>
            </a:r>
            <a:br/>
            <a:r>
              <a:t>  - Needs Review (&lt;50% score)</a:t>
            </a:r>
            <a:br/>
            <a:br/>
            <a:r>
              <a:t>• Dynamic Daily Streak: Encourages daily practice starting from 1-day dynamic baseline.</a:t>
            </a:r>
          </a:p>
        </p:txBody>
      </p:sp>
      <p:sp>
        <p:nvSpPr>
          <p:cNvPr id="8" name="Rounded Rectangle 7"/>
          <p:cNvSpPr/>
          <p:nvPr/>
        </p:nvSpPr>
        <p:spPr>
          <a:xfrm>
            <a:off x="6245352" y="1645920"/>
            <a:ext cx="5212080" cy="4663440"/>
          </a:xfrm>
          <a:prstGeom prst="roundRect">
            <a:avLst/>
          </a:prstGeom>
          <a:solidFill>
            <a:srgbClr val="EEF2FF"/>
          </a:solidFill>
          <a:ln w="1270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828800"/>
            <a:ext cx="4846320" cy="4297680"/>
          </a:xfrm>
          <a:prstGeom prst="rect">
            <a:avLst/>
          </a:prstGeom>
          <a:noFill/>
        </p:spPr>
        <p:txBody>
          <a:bodyPr wrap="square">
            <a:spAutoFit/>
          </a:bodyPr>
          <a:lstStyle/>
          <a:p>
            <a:pPr>
              <a:defRPr sz="1150" b="1">
                <a:solidFill>
                  <a:srgbClr val="4F46E5"/>
                </a:solidFill>
                <a:latin typeface="Segoe UI"/>
              </a:defRPr>
            </a:pPr>
            <a:r>
              <a:t>TEACHER CLASSROOM MONITORING</a:t>
            </a:r>
          </a:p>
          <a:p>
            <a:pPr>
              <a:spcBef>
                <a:spcPts val="600"/>
              </a:spcBef>
              <a:defRPr sz="1000">
                <a:solidFill>
                  <a:srgbClr val="1E2229"/>
                </a:solidFill>
                <a:latin typeface="Segoe UI"/>
              </a:defRPr>
            </a:pPr>
            <a:r>
              <a:t>• 6-Digit Room Codes: Teachers create class rooms (e.g. Code 794201) for instant student joining.</a:t>
            </a:r>
            <a:br/>
            <a:br/>
            <a:r>
              <a:t>• Concept Gap Alerts: Automated notices highlight class struggles (e.g. '65% of Class 7A needs review on Linear Equations').</a:t>
            </a:r>
            <a:br/>
            <a:br/>
            <a:r>
              <a:t>• Data Privacy: Role-based access control; no third-party tracking or mandatory PII leaks.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92608"/>
          </a:xfrm>
          <a:prstGeom prst="roundRect">
            <a:avLst/>
          </a:prstGeom>
          <a:solidFill>
            <a:srgbClr val="FFF0ED"/>
          </a:solidFill>
          <a:ln w="12700">
            <a:solidFill>
              <a:srgbClr val="F95738"/>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defRPr sz="950" b="1">
                <a:solidFill>
                  <a:srgbClr val="F95738"/>
                </a:solidFill>
                <a:latin typeface="Segoe UI"/>
              </a:defRPr>
            </a:pPr>
            <a:r>
              <a:t>7. SCALABILITY &amp; ASK</a:t>
            </a:r>
          </a:p>
        </p:txBody>
      </p:sp>
      <p:sp>
        <p:nvSpPr>
          <p:cNvPr id="4" name="TextBox 3"/>
          <p:cNvSpPr txBox="1"/>
          <p:nvPr/>
        </p:nvSpPr>
        <p:spPr>
          <a:xfrm>
            <a:off x="731520" y="685800"/>
            <a:ext cx="10728655" cy="457200"/>
          </a:xfrm>
          <a:prstGeom prst="rect">
            <a:avLst/>
          </a:prstGeom>
          <a:noFill/>
        </p:spPr>
        <p:txBody>
          <a:bodyPr wrap="square" lIns="0" rIns="0" tIns="0" bIns="0">
            <a:spAutoFit/>
          </a:bodyPr>
          <a:lstStyle/>
          <a:p>
            <a:pPr>
              <a:defRPr sz="2100" b="1">
                <a:solidFill>
                  <a:srgbClr val="1E2229"/>
                </a:solidFill>
                <a:latin typeface="Segoe UI"/>
              </a:defRPr>
            </a:pPr>
            <a:r>
              <a:t>Measured Prototype Verification &amp; Next Steps Validation Ask</a:t>
            </a:r>
          </a:p>
        </p:txBody>
      </p:sp>
      <p:sp>
        <p:nvSpPr>
          <p:cNvPr id="5" name="TextBox 4"/>
          <p:cNvSpPr txBox="1"/>
          <p:nvPr/>
        </p:nvSpPr>
        <p:spPr>
          <a:xfrm>
            <a:off x="731520" y="1188720"/>
            <a:ext cx="10728655" cy="320040"/>
          </a:xfrm>
          <a:prstGeom prst="rect">
            <a:avLst/>
          </a:prstGeom>
          <a:noFill/>
        </p:spPr>
        <p:txBody>
          <a:bodyPr wrap="square" lIns="0" rIns="0" tIns="0" bIns="0">
            <a:spAutoFit/>
          </a:bodyPr>
          <a:lstStyle/>
          <a:p>
            <a:pPr>
              <a:defRPr sz="1150">
                <a:solidFill>
                  <a:srgbClr val="5A606C"/>
                </a:solidFill>
                <a:latin typeface="Segoe UI"/>
              </a:defRPr>
            </a:pPr>
            <a:r>
              <a:t>Empirically verified prototype metrics and pilot deployment proposal.</a:t>
            </a:r>
          </a:p>
        </p:txBody>
      </p:sp>
      <p:sp>
        <p:nvSpPr>
          <p:cNvPr id="6" name="Rounded Rectangle 5"/>
          <p:cNvSpPr/>
          <p:nvPr/>
        </p:nvSpPr>
        <p:spPr>
          <a:xfrm>
            <a:off x="731520" y="1645920"/>
            <a:ext cx="5212080" cy="4663440"/>
          </a:xfrm>
          <a:prstGeom prst="roundRect">
            <a:avLst/>
          </a:prstGeom>
          <a:solidFill>
            <a:srgbClr val="FFFFFF"/>
          </a:solidFill>
          <a:ln w="12700">
            <a:solidFill>
              <a:srgbClr val="E5E2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297680"/>
          </a:xfrm>
          <a:prstGeom prst="rect">
            <a:avLst/>
          </a:prstGeom>
          <a:noFill/>
        </p:spPr>
        <p:txBody>
          <a:bodyPr wrap="square">
            <a:spAutoFit/>
          </a:bodyPr>
          <a:lstStyle/>
          <a:p>
            <a:pPr>
              <a:defRPr sz="1150" b="1">
                <a:solidFill>
                  <a:srgbClr val="F95738"/>
                </a:solidFill>
                <a:latin typeface="Segoe UI"/>
              </a:defRPr>
            </a:pPr>
            <a:r>
              <a:t>MEASURED PROTOTYPE METRICS</a:t>
            </a:r>
          </a:p>
          <a:p>
            <a:pPr>
              <a:spcBef>
                <a:spcPts val="600"/>
              </a:spcBef>
              <a:defRPr sz="1000">
                <a:solidFill>
                  <a:srgbClr val="1E2229"/>
                </a:solidFill>
                <a:latin typeface="Segoe UI"/>
              </a:defRPr>
            </a:pPr>
            <a:r>
              <a:t>• Zero Build Errors: Vite production bundle compiled in 20.2s with 0 errors.</a:t>
            </a:r>
            <a:br/>
            <a:br/>
            <a:r>
              <a:t>• Ultra-Low Bandwidth: Download packs compressed to ~400KB per module.</a:t>
            </a:r>
            <a:br/>
            <a:br/>
            <a:r>
              <a:t>• Instant Offline Load: PWA loads in &lt;1.2 seconds from IndexedDB cache.</a:t>
            </a:r>
            <a:br/>
            <a:br/>
            <a:r>
              <a:t>• Dynamic Pool: 150 STEM questions across 5 subjects &amp; 3 difficulty tiers.</a:t>
            </a:r>
          </a:p>
        </p:txBody>
      </p:sp>
      <p:sp>
        <p:nvSpPr>
          <p:cNvPr id="8" name="Rounded Rectangle 7"/>
          <p:cNvSpPr/>
          <p:nvPr/>
        </p:nvSpPr>
        <p:spPr>
          <a:xfrm>
            <a:off x="6245352" y="1645920"/>
            <a:ext cx="5212080" cy="4663440"/>
          </a:xfrm>
          <a:prstGeom prst="roundRect">
            <a:avLst/>
          </a:prstGeom>
          <a:solidFill>
            <a:srgbClr val="FFF0ED"/>
          </a:solidFill>
          <a:ln w="12700">
            <a:solidFill>
              <a:srgbClr val="F957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828800"/>
            <a:ext cx="4846320" cy="4297680"/>
          </a:xfrm>
          <a:prstGeom prst="rect">
            <a:avLst/>
          </a:prstGeom>
          <a:noFill/>
        </p:spPr>
        <p:txBody>
          <a:bodyPr wrap="square">
            <a:spAutoFit/>
          </a:bodyPr>
          <a:lstStyle/>
          <a:p>
            <a:pPr>
              <a:defRPr sz="1150" b="1">
                <a:solidFill>
                  <a:srgbClr val="F95738"/>
                </a:solidFill>
                <a:latin typeface="Segoe UI"/>
              </a:defRPr>
            </a:pPr>
            <a:r>
              <a:t>LIVE DEMO SEQUENCE &amp; PILOT ASK</a:t>
            </a:r>
          </a:p>
          <a:p>
            <a:pPr>
              <a:spcBef>
                <a:spcPts val="600"/>
              </a:spcBef>
              <a:defRPr sz="1000">
                <a:solidFill>
                  <a:srgbClr val="1E2229"/>
                </a:solidFill>
                <a:latin typeface="Segoe UI"/>
              </a:defRPr>
            </a:pPr>
            <a:r>
              <a:t>• Live Demo Sequence:</a:t>
            </a:r>
            <a:br/>
            <a:r>
              <a:t>  1. Sign in with sample student account (Aarav / Priya).</a:t>
            </a:r>
            <a:br/>
            <a:r>
              <a:t>  2. Take 10-question adaptive assessment.</a:t>
            </a:r>
            <a:br/>
            <a:r>
              <a:t>  3. Review misconception analysis &amp; areas to improve.</a:t>
            </a:r>
            <a:br/>
            <a:r>
              <a:t>  4. Download pack, toggle browser offline, play video + audio in Tamil.</a:t>
            </a:r>
            <a:br/>
            <a:r>
              <a:t>  5. Complete matching game &amp; verify background sync.</a:t>
            </a:r>
            <a:br/>
            <a:br/>
            <a:r>
              <a:t>• Next Validation Ask:</a:t>
            </a:r>
            <a:br/>
            <a:r>
              <a:t>  Pilot validation with rural village learning centers in Tirunelveli district.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