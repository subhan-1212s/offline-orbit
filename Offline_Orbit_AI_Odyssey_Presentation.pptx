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5738"/>
                </a:solidFill>
              </a:defRPr>
            </a:pPr>
            <a:r>
              <a:t>AI ODYSSEY HACKATHON 2026 • OFFICIAL SUBMISSION</a:t>
            </a:r>
          </a:p>
          <a:p>
            <a:pPr>
              <a:spcBef>
                <a:spcPts val="800"/>
              </a:spcBef>
              <a:defRPr sz="3800" b="1">
                <a:solidFill>
                  <a:srgbClr val="1E2229"/>
                </a:solidFill>
              </a:defRPr>
            </a:pPr>
            <a:r>
              <a:t>Offline Orbit</a:t>
            </a:r>
          </a:p>
          <a:p>
            <a:pPr>
              <a:spcBef>
                <a:spcPts val="600"/>
              </a:spcBef>
              <a:defRPr sz="1500" b="1">
                <a:solidFill>
                  <a:srgbClr val="4F46E5"/>
                </a:solidFill>
              </a:defRPr>
            </a:pPr>
            <a:r>
              <a:t>AI Personalized Learning Recovery System for Rural Communities &amp; Intermittent Connectivity</a:t>
            </a:r>
          </a:p>
          <a:p>
            <a:pPr>
              <a:spcBef>
                <a:spcPts val="1400"/>
              </a:spcBef>
              <a:defRPr sz="1200">
                <a:solidFill>
                  <a:srgbClr val="5A606C"/>
                </a:solidFill>
              </a:defRPr>
            </a:pPr>
            <a:r>
              <a:t>Problem Statement: AI Personalized Learning Platform for Rural Communities</a:t>
            </a:r>
            <a:br/>
            <a:r>
              <a:t>Core Paradigm: Assess ➔ Gap ➔ Explain ➔ Practise ➔ Save Offline ➔ Sync ➔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097280"/>
            <a:ext cx="3566160" cy="4572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28016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TEAM DETAILS</a:t>
            </a:r>
          </a:p>
          <a:p>
            <a:pPr>
              <a:spcBef>
                <a:spcPts val="1200"/>
              </a:spcBef>
              <a:defRPr sz="1300" b="1">
                <a:solidFill>
                  <a:srgbClr val="1E2229"/>
                </a:solidFill>
              </a:defRPr>
            </a:pPr>
            <a:r>
              <a:t>• Mohamed Subhan S</a:t>
            </a:r>
          </a:p>
          <a:p>
            <a:pPr>
              <a:defRPr sz="1100">
                <a:solidFill>
                  <a:srgbClr val="5A606C"/>
                </a:solidFill>
              </a:defRPr>
            </a:pPr>
            <a:r>
              <a:t>  Team Leader / Full-Stack &amp; AI</a:t>
            </a:r>
          </a:p>
          <a:p>
            <a:pPr>
              <a:spcBef>
                <a:spcPts val="1200"/>
              </a:spcBef>
              <a:defRPr sz="1300" b="1">
                <a:solidFill>
                  <a:srgbClr val="1E2229"/>
                </a:solidFill>
              </a:defRPr>
            </a:pPr>
            <a:r>
              <a:t>• Mohamed Yarkhan A</a:t>
            </a:r>
          </a:p>
          <a:p>
            <a:pPr>
              <a:defRPr sz="1100">
                <a:solidFill>
                  <a:srgbClr val="5A606C"/>
                </a:solidFill>
              </a:defRPr>
            </a:pPr>
            <a:r>
              <a:t>  Team Member / PWA &amp; Offline Sync</a:t>
            </a:r>
          </a:p>
          <a:p>
            <a:pPr>
              <a:spcBef>
                <a:spcPts val="1200"/>
              </a:spcBef>
              <a:defRPr sz="1300" b="1">
                <a:solidFill>
                  <a:srgbClr val="1E2229"/>
                </a:solidFill>
              </a:defRPr>
            </a:pPr>
            <a:r>
              <a:t>• Mari Muthu Prakash M</a:t>
            </a:r>
          </a:p>
          <a:p>
            <a:pPr>
              <a:defRPr sz="1100">
                <a:solidFill>
                  <a:srgbClr val="5A606C"/>
                </a:solidFill>
              </a:defRPr>
            </a:pPr>
            <a:r>
              <a:t>  Team Member / UI/UX &amp; Curriculum</a:t>
            </a:r>
          </a:p>
          <a:p>
            <a:br/>
            <a:pPr>
              <a:defRPr sz="1100" b="1">
                <a:solidFill>
                  <a:srgbClr val="1E2229"/>
                </a:solidFill>
              </a:defRPr>
            </a:pPr>
            <a:r>
              <a:t>Institution:</a:t>
            </a:r>
          </a:p>
          <a:p>
            <a:pPr>
              <a:defRPr sz="1100">
                <a:solidFill>
                  <a:srgbClr val="5A606C"/>
                </a:solidFill>
              </a:defRPr>
            </a:pPr>
            <a:r>
              <a:t>MCA 1st Year</a:t>
            </a:r>
            <a:br/>
            <a:r>
              <a:t>FX Engineering College, Tirunelveli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FFF0ED"/>
          </a:solidFill>
          <a:ln>
            <a:solidFill>
              <a:srgbClr val="F9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95738"/>
                </a:solidFill>
              </a:defRPr>
            </a:pPr>
            <a:r>
              <a:t>1. PROBLEM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229"/>
                </a:solidFill>
              </a:defRPr>
            </a:pPr>
            <a:r>
              <a:t>The Rural Connectivity &amp; Learning Recovery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606C"/>
                </a:solidFill>
              </a:defRPr>
            </a:pPr>
            <a:r>
              <a:t>Addressing core educational barriers in rural communities with intermittent network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5738"/>
                </a:solidFill>
              </a:defRPr>
            </a:pPr>
            <a:r>
              <a:t>INTERMITTENT CONNECTIVITY</a:t>
            </a:r>
          </a:p>
          <a:p>
            <a:br/>
            <a:pPr>
              <a:defRPr sz="1100">
                <a:solidFill>
                  <a:srgbClr val="5A606C"/>
                </a:solidFill>
              </a:defRPr>
            </a:pPr>
            <a:r>
              <a:t>• 2G/3G speeds &amp; frequent blackouts prevent standard online LMS apps from loading.</a:t>
            </a:r>
            <a:br/>
            <a:br/>
            <a:r>
              <a:t>• Cloud-only AI chatbots require continuous 5G streams, failing completely in villages.</a:t>
            </a:r>
            <a:br/>
            <a:br/>
            <a:r>
              <a:t>• Video streaming buffers continuously, causing high student drop-out 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ONE-SIZE-FITS-ALL CONTENT</a:t>
            </a:r>
          </a:p>
          <a:p>
            <a:br/>
            <a:pPr>
              <a:defRPr sz="1100">
                <a:solidFill>
                  <a:srgbClr val="5A606C"/>
                </a:solidFill>
              </a:defRPr>
            </a:pPr>
            <a:r>
              <a:t>• Traditional classroom lectures move forward regardless of student comprehension gaps.</a:t>
            </a:r>
            <a:br/>
            <a:br/>
            <a:r>
              <a:t>• Learners struggling with 2-step equations get stuck without targeted remediation.</a:t>
            </a:r>
            <a:br/>
            <a:br/>
            <a:r>
              <a:t>• Static textbook PDFs lack interactive diagnostic feedback and multilinguality.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EEFDF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CONCRETE USER SCENARIO</a:t>
            </a:r>
          </a:p>
          <a:p>
            <a:br/>
            <a:pPr>
              <a:defRPr sz="1100">
                <a:solidFill>
                  <a:srgbClr val="1E2229"/>
                </a:solidFill>
              </a:defRPr>
            </a:pPr>
            <a:r>
              <a:t>Meet Aarav (7th Grade, Rural Village):</a:t>
            </a:r>
            <a:br/>
            <a:r>
              <a:t>• Shares a single mobile phone with 3 family members in an intermittent 2G zone.</a:t>
            </a:r>
            <a:br/>
            <a:br/>
            <a:r>
              <a:t>• Struggles with inverse operations in algebra. Cannot stream online tutoring videos.</a:t>
            </a:r>
            <a:br/>
            <a:br/>
            <a:r>
              <a:t>• Needs a system that identifies his specific misconception, works 100% offline, and syncs progress when network returns.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FFF0ED"/>
          </a:solidFill>
          <a:ln>
            <a:solidFill>
              <a:srgbClr val="F9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95738"/>
                </a:solidFill>
              </a:defRPr>
            </a:pPr>
            <a: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229"/>
                </a:solidFill>
              </a:defRPr>
            </a:pPr>
            <a:r>
              <a:t>Offline Orbit: Connected Learning Recovery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606C"/>
                </a:solidFill>
              </a:defRPr>
            </a:pPr>
            <a:r>
              <a:t>A structured, offline-first adaptive loop bridging rural learners with actionable teacher oversight.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F9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5738"/>
                </a:solidFill>
              </a:defRPr>
            </a:pPr>
            <a:r>
              <a:t>1. DIAGNOSE GAP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1E2229"/>
                </a:solidFill>
              </a:defRPr>
            </a:pPr>
            <a:r>
              <a:t>Adaptive 10-question diagnostic pinpoints specific misconceptions (e.g. inverse ops) in real-time.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46888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1168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2. EXPLAIN &amp; RECOM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1E2229"/>
                </a:solidFill>
              </a:defRPr>
            </a:pPr>
            <a:r>
              <a:t>AI recommendation engine explains WHY a topic is suggested based on score &amp; interest domain.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468880" cy="4389120"/>
          </a:xfrm>
          <a:prstGeom prst="roundRect">
            <a:avLst/>
          </a:prstGeom>
          <a:solidFill>
            <a:srgbClr val="EEFDF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3. OFFLINE LEARNING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1E2229"/>
                </a:solidFill>
              </a:defRPr>
            </a:pPr>
            <a:r>
              <a:t>Download standalone WebM videos &amp; play interactive matching games with zero cellular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28800"/>
            <a:ext cx="2468880" cy="438912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F9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01168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5738"/>
                </a:solidFill>
              </a:defRPr>
            </a:pPr>
            <a:r>
              <a:t>4. RELIABLE SYNC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1E2229"/>
                </a:solidFill>
              </a:defRPr>
            </a:pPr>
            <a:r>
              <a:t>IndexedDB local store queues activity evidence; background sync restores data without duplicates.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FFF0ED"/>
          </a:solidFill>
          <a:ln>
            <a:solidFill>
              <a:srgbClr val="F9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95738"/>
                </a:solidFill>
              </a:defRPr>
            </a:pPr>
            <a:r>
              <a:t>3. HOW SOLUTION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229"/>
                </a:solidFill>
              </a:defRPr>
            </a:pPr>
            <a:r>
              <a:t>End-to-End Learner Journey &amp; Transparent Personalization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606C"/>
                </a:solidFill>
              </a:defRPr>
            </a:pPr>
            <a:r>
              <a:t>Understandable AI logic tracking score trajectory, interest domains, and foundational gaps.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5738"/>
                </a:solidFill>
              </a:defRPr>
            </a:pPr>
            <a:r>
              <a:t>END-TO-END LEARNER JOURNEY</a:t>
            </a:r>
          </a:p>
          <a:p>
            <a:pPr>
              <a:spcBef>
                <a:spcPts val="800"/>
              </a:spcBef>
              <a:defRPr sz="1050">
                <a:solidFill>
                  <a:srgbClr val="1E2229"/>
                </a:solidFill>
              </a:defRPr>
            </a:pPr>
            <a:r>
              <a:t>1. Login &amp; Profile Setup: Learner specifies grade tier (Beginner/Intermediate/Advanced) and interest domain.</a:t>
            </a:r>
          </a:p>
          <a:p>
            <a:pPr>
              <a:spcBef>
                <a:spcPts val="800"/>
              </a:spcBef>
              <a:defRPr sz="1050">
                <a:solidFill>
                  <a:srgbClr val="1E2229"/>
                </a:solidFill>
              </a:defRPr>
            </a:pPr>
            <a:r>
              <a:t>2. Adaptive Assessment: 10 targeted questions evaluate subject understanding.</a:t>
            </a:r>
          </a:p>
          <a:p>
            <a:pPr>
              <a:spcBef>
                <a:spcPts val="800"/>
              </a:spcBef>
              <a:defRPr sz="1050">
                <a:solidFill>
                  <a:srgbClr val="1E2229"/>
                </a:solidFill>
              </a:defRPr>
            </a:pPr>
            <a:r>
              <a:t>3. Misconception Feedback: System details exact error rationale on wrong answers.</a:t>
            </a:r>
          </a:p>
          <a:p>
            <a:pPr>
              <a:spcBef>
                <a:spcPts val="800"/>
              </a:spcBef>
              <a:defRPr sz="1050">
                <a:solidFill>
                  <a:srgbClr val="1E2229"/>
                </a:solidFill>
              </a:defRPr>
            </a:pPr>
            <a:r>
              <a:t>4. Content Package Download: Learner downloads ~400KB offline pack for zero-data review.</a:t>
            </a:r>
          </a:p>
          <a:p>
            <a:pPr>
              <a:spcBef>
                <a:spcPts val="800"/>
              </a:spcBef>
              <a:defRPr sz="1050">
                <a:solidFill>
                  <a:srgbClr val="1E2229"/>
                </a:solidFill>
              </a:defRPr>
            </a:pPr>
            <a:r>
              <a:t>5. Practice &amp; Mastery: Interactive matching games &amp; video narration build 100% mastery.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HOW PERSONALIZATION WORKS</a:t>
            </a:r>
          </a:p>
          <a:p>
            <a:br/>
            <a:pPr>
              <a:defRPr sz="1100">
                <a:solidFill>
                  <a:srgbClr val="1E2229"/>
                </a:solidFill>
              </a:defRPr>
            </a:pPr>
            <a:r>
              <a:t>• Signals Evaluated:</a:t>
            </a:r>
            <a:br/>
            <a:r>
              <a:t>  - Score Trajectory (% correct per sub-topic)</a:t>
            </a:r>
            <a:br/>
            <a:r>
              <a:t>  - Learner Tier (Grade 6-8 vs High School vs Adult)</a:t>
            </a:r>
            <a:br/>
            <a:r>
              <a:t>  - Interest Domain (CompSci &amp; AI, Math, Physics, Bio, Chem)</a:t>
            </a:r>
            <a:br/>
            <a:br/>
            <a:r>
              <a:t>• Why It Is Understandable:</a:t>
            </a:r>
            <a:br/>
            <a:r>
              <a:t>  - Explains explicit rationale: 'Recommended because you missed inverse operation steps on Question 2'.</a:t>
            </a:r>
            <a:br/>
            <a:r>
              <a:t>  - No black-box AI — deterministic rule trees backed by dynamic question generators.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FFF0ED"/>
          </a:solidFill>
          <a:ln>
            <a:solidFill>
              <a:srgbClr val="F9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95738"/>
                </a:solidFill>
              </a:defRPr>
            </a:pPr>
            <a:r>
              <a:t>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229"/>
                </a:solidFill>
              </a:defRPr>
            </a:pPr>
            <a:r>
              <a:t>Production Technology Stack &amp; Data Flow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606C"/>
                </a:solidFill>
              </a:defRPr>
            </a:pPr>
            <a:r>
              <a:t>Full-stack Web &amp; PWA architecture built for high performance on low-spec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TECHNOLOGY STACK</a:t>
            </a:r>
          </a:p>
          <a:p>
            <a:pPr>
              <a:spcBef>
                <a:spcPts val="800"/>
              </a:spcBef>
              <a:defRPr sz="1050">
                <a:solidFill>
                  <a:srgbClr val="1E2229"/>
                </a:solidFill>
              </a:defRPr>
            </a:pPr>
            <a:r>
              <a:t>• Frontend: React 18, Vite, Tailwind CSS (Custom Light Theme #FAF9F6), Lucide Icons, Canvas-Confetti, Recharts.</a:t>
            </a:r>
          </a:p>
          <a:p>
            <a:pPr>
              <a:spcBef>
                <a:spcPts val="800"/>
              </a:spcBef>
              <a:defRPr sz="1050">
                <a:solidFill>
                  <a:srgbClr val="1E2229"/>
                </a:solidFill>
              </a:defRPr>
            </a:pPr>
            <a:r>
              <a:t>• Backend &amp; APIs: Node.js, Express REST API, Brevo Email API for progress notifications.</a:t>
            </a:r>
          </a:p>
          <a:p>
            <a:pPr>
              <a:spcBef>
                <a:spcPts val="800"/>
              </a:spcBef>
              <a:defRPr sz="1050">
                <a:solidFill>
                  <a:srgbClr val="1E2229"/>
                </a:solidFill>
              </a:defRPr>
            </a:pPr>
            <a:r>
              <a:t>• Local Offline Engine: IndexedDB, Service Worker PWA, Web Audio &amp; Web Speech Synthesis API.</a:t>
            </a:r>
          </a:p>
          <a:p>
            <a:pPr>
              <a:spcBef>
                <a:spcPts val="800"/>
              </a:spcBef>
              <a:defRPr sz="1050">
                <a:solidFill>
                  <a:srgbClr val="1E2229"/>
                </a:solidFill>
              </a:defRPr>
            </a:pPr>
            <a:r>
              <a:t>• Database &amp; Cloud: MongoDB Atlas for central cloud sync &amp; classroom room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EEFDF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DATA FLOW &amp; SYNC ARCHITECTURE</a:t>
            </a:r>
          </a:p>
          <a:p>
            <a:br/>
            <a:pPr>
              <a:defRPr sz="1000" b="1">
                <a:solidFill>
                  <a:srgbClr val="1E2229"/>
                </a:solidFill>
              </a:defRPr>
            </a:pPr>
            <a:r>
              <a:t>[ Client Browser (React + PWA) ]</a:t>
            </a:r>
            <a:br/>
            <a:r>
              <a:t>       │</a:t>
            </a:r>
            <a:br/>
            <a:r>
              <a:t>       ├─► IndexedDB (Local Stores: lessons, attempts, syncQueue)</a:t>
            </a:r>
            <a:br/>
            <a:r>
              <a:t>       │</a:t>
            </a:r>
            <a:br/>
            <a:r>
              <a:t>       ├─► Web Speech API (Offline Narrator: English, Tamil, Hindi)</a:t>
            </a:r>
            <a:br/>
            <a:r>
              <a:t>       │</a:t>
            </a:r>
            <a:br/>
            <a:r>
              <a:t>  (Network Restored)</a:t>
            </a:r>
            <a:br/>
            <a:r>
              <a:t>       │</a:t>
            </a:r>
            <a:br/>
            <a:r>
              <a:t>       ▼</a:t>
            </a:r>
            <a:br/>
            <a:r>
              <a:t>[ Express Node.js Server ] ──► [ MongoDB Atlas ]</a:t>
            </a:r>
            <a:br/>
            <a:r>
              <a:t>       │</a:t>
            </a:r>
            <a:br/>
            <a:r>
              <a:t>       └─► [ Brevo Email Service ] (Progress Reports)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FFF0ED"/>
          </a:solidFill>
          <a:ln>
            <a:solidFill>
              <a:srgbClr val="F9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95738"/>
                </a:solidFill>
              </a:defRPr>
            </a:pPr>
            <a:r>
              <a:t>5. INNOVATION &amp; 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229"/>
                </a:solidFill>
              </a:defRPr>
            </a:pPr>
            <a:r>
              <a:t>Offline Engineering &amp; Multilingual Audio/Video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606C"/>
                </a:solidFill>
              </a:defRPr>
            </a:pPr>
            <a:r>
              <a:t>Delivering high-quality video &amp; spoken TTS narration without network dependency.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5738"/>
                </a:solidFill>
              </a:defRPr>
            </a:pPr>
            <a:r>
              <a:t>WHAT WORKS 100% OFFLINE</a:t>
            </a:r>
          </a:p>
          <a:p>
            <a:br/>
            <a:pPr>
              <a:defRPr sz="1050">
                <a:solidFill>
                  <a:srgbClr val="5A606C"/>
                </a:solidFill>
              </a:defRPr>
            </a:pPr>
            <a:r>
              <a:t>• Full video playback (standalone WebM Blob video animations).</a:t>
            </a:r>
            <a:br/>
            <a:br/>
            <a:r>
              <a:t>• Spoken voice narration in 3 languages (English, Tamil, Hindi).</a:t>
            </a:r>
            <a:br/>
            <a:br/>
            <a:r>
              <a:t>• Interactive matching games, speed sorters, and 10-question retake quizzes.</a:t>
            </a:r>
            <a:br/>
            <a:br/>
            <a:r>
              <a:t>• Local IndexedDB attempt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MULTILINGUAL AUDIO/VIDEO</a:t>
            </a:r>
          </a:p>
          <a:p>
            <a:br/>
            <a:pPr>
              <a:defRPr sz="1050">
                <a:solidFill>
                  <a:srgbClr val="5A606C"/>
                </a:solidFill>
              </a:defRPr>
            </a:pPr>
            <a:r>
              <a:t>• Supported Languages:</a:t>
            </a:r>
            <a:br/>
            <a:r>
              <a:t>  1. English (en-US)</a:t>
            </a:r>
            <a:br/>
            <a:r>
              <a:t>  2. Tamil (ta-IN)</a:t>
            </a:r>
            <a:br/>
            <a:r>
              <a:t>  3. Hindi (hi-IN)</a:t>
            </a:r>
            <a:br/>
            <a:br/>
            <a:r>
              <a:t>• Web Audio &amp; Web Speech API synthesize natural spoken TTS synchronized with visual video steps.</a:t>
            </a:r>
            <a:br/>
            <a:br/>
            <a:r>
              <a:t>• Low-Storage Limit: ~400KB per pack fits easily on low-cost 16GB phones.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F9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5738"/>
                </a:solidFill>
              </a:defRPr>
            </a:pPr>
            <a:r>
              <a:t>DUPLICATE PREVENTING SYNC</a:t>
            </a:r>
          </a:p>
          <a:p>
            <a:br/>
            <a:pPr>
              <a:defRPr sz="1050">
                <a:solidFill>
                  <a:srgbClr val="1E2229"/>
                </a:solidFill>
              </a:defRPr>
            </a:pPr>
            <a:r>
              <a:t>• Local Queue: Quiz attempts are timestamped and assigned unique GUID keys in IndexedDB.</a:t>
            </a:r>
            <a:br/>
            <a:br/>
            <a:r>
              <a:t>• Idempotent Sync: When network recovers, sync engine transmits pending queue items.</a:t>
            </a:r>
            <a:br/>
            <a:br/>
            <a:r>
              <a:t>• Duplicate Prevention: Server checks quizId + timestamp hash before recording, preventing double counts.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FFF0ED"/>
          </a:solidFill>
          <a:ln>
            <a:solidFill>
              <a:srgbClr val="F9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95738"/>
                </a:solidFill>
              </a:defRPr>
            </a:pPr>
            <a:r>
              <a:t>6. USABILITY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229"/>
                </a:solidFill>
              </a:defRPr>
            </a:pPr>
            <a:r>
              <a:t>Teacher &amp; Student Analytics Driven by Real Progress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606C"/>
                </a:solidFill>
              </a:defRPr>
            </a:pPr>
            <a:r>
              <a:t>Connecting rural classroom teachers with actionable concept gap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STUDENT ANALYTICS &amp; DASHBOARD</a:t>
            </a:r>
          </a:p>
          <a:p>
            <a:br/>
            <a:pPr>
              <a:defRPr sz="1050">
                <a:solidFill>
                  <a:srgbClr val="1E2229"/>
                </a:solidFill>
              </a:defRPr>
            </a:pPr>
            <a:r>
              <a:t>• Score Trajectory Curve: Visual charts mapping score growth over recent diagnostic attempts.</a:t>
            </a:r>
            <a:br/>
            <a:br/>
            <a:r>
              <a:t>• Topic Mastery Breakdown: Categorizes modules into Mastered (≥80%), Practising (50-79%), and Needs Review (&lt;50%).</a:t>
            </a:r>
            <a:br/>
            <a:br/>
            <a:r>
              <a:t>• Active Streak Tracking: Dynamic daily streak counter encouraging consistent practice.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TEACHER CLASSROOM MONITORING</a:t>
            </a:r>
          </a:p>
          <a:p>
            <a:br/>
            <a:pPr>
              <a:defRPr sz="1050">
                <a:solidFill>
                  <a:srgbClr val="1E2229"/>
                </a:solidFill>
              </a:defRPr>
            </a:pPr>
            <a:r>
              <a:t>• 6-Digit Room Codes: Teachers create class rooms (e.g. Code 794201) for instant student joining.</a:t>
            </a:r>
            <a:br/>
            <a:br/>
            <a:r>
              <a:t>• Class Concept Gap Alerts: Highlights class-wide struggles (e.g. '65% of Class 7A needs review on Linear Equations').</a:t>
            </a:r>
            <a:br/>
            <a:br/>
            <a:r>
              <a:t>• Privacy &amp; Security: No intrusive tracking or ad scripts; student identities remain protected under role-based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FFF0ED"/>
          </a:solidFill>
          <a:ln>
            <a:solidFill>
              <a:srgbClr val="F9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95738"/>
                </a:solidFill>
              </a:defRPr>
            </a:pPr>
            <a:r>
              <a:t>7. SCALABILITY &amp;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229"/>
                </a:solidFill>
              </a:defRPr>
            </a:pPr>
            <a:r>
              <a:t>Prototype Verification &amp; Future Field Validation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606C"/>
                </a:solidFill>
              </a:defRPr>
            </a:pPr>
            <a:r>
              <a:t>Measured prototype achievements and next validation steps for rural pilot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5738"/>
                </a:solidFill>
              </a:defRPr>
            </a:pPr>
            <a:r>
              <a:t>MEASURED PROTOTYPE METRICS</a:t>
            </a:r>
          </a:p>
          <a:p>
            <a:br/>
            <a:pPr>
              <a:defRPr sz="1050">
                <a:solidFill>
                  <a:srgbClr val="1E2229"/>
                </a:solidFill>
              </a:defRPr>
            </a:pPr>
            <a:r>
              <a:t>• Zero Build Errors: Vite production bundle built in 20.2s with 0 errors.</a:t>
            </a:r>
            <a:br/>
            <a:br/>
            <a:r>
              <a:t>• Ultra-Low Bandwidth: Lesson download packs compressed to ~400KB per module.</a:t>
            </a:r>
            <a:br/>
            <a:br/>
            <a:r>
              <a:t>• Instant Offline Load: PWA loads in &lt;1.2 seconds from local IndexedDB cache.</a:t>
            </a:r>
            <a:br/>
            <a:br/>
            <a:r>
              <a:t>• Dynamic Pool: 150 STEM questions across 5 domains &amp; 3 difficulty tiers.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F9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5738"/>
                </a:solidFill>
              </a:defRPr>
            </a:pPr>
            <a:r>
              <a:t>LIVE DEMO SEQUENCE &amp; NEXT STEPS</a:t>
            </a:r>
          </a:p>
          <a:p>
            <a:br/>
            <a:pPr>
              <a:defRPr sz="1050">
                <a:solidFill>
                  <a:srgbClr val="1E2229"/>
                </a:solidFill>
              </a:defRPr>
            </a:pPr>
            <a:r>
              <a:t>• Live Demo Flow:</a:t>
            </a:r>
            <a:br/>
            <a:r>
              <a:t>  1. Sign in with sample student account (Aarav / Priya).</a:t>
            </a:r>
            <a:br/>
            <a:r>
              <a:t>  2. Take 10-question adaptive assessment.</a:t>
            </a:r>
            <a:br/>
            <a:r>
              <a:t>  3. Review misconception analysis &amp; areas to improve.</a:t>
            </a:r>
            <a:br/>
            <a:r>
              <a:t>  4. Download pack, toggle browser offline, and play video + audio in Tamil.</a:t>
            </a:r>
            <a:br/>
            <a:r>
              <a:t>  5. Complete matching game &amp; verify background sync.</a:t>
            </a:r>
            <a:br/>
            <a:br/>
            <a:r>
              <a:t>• Next Step Ask:</a:t>
            </a:r>
            <a:br/>
            <a:r>
              <a:t>  Pilot validation with rural government schools in Tirunelveli district.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